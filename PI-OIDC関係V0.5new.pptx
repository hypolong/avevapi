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94" r:id="rId2"/>
    <p:sldId id="293" r:id="rId3"/>
    <p:sldId id="299" r:id="rId4"/>
    <p:sldId id="298" r:id="rId5"/>
    <p:sldId id="301"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IDC調べ" id="{423FFBA0-F79E-439E-80A6-F4972497FB77}">
          <p14:sldIdLst>
            <p14:sldId id="294"/>
            <p14:sldId id="293"/>
            <p14:sldId id="299"/>
            <p14:sldId id="298"/>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95D9"/>
    <a:srgbClr val="7030A0"/>
    <a:srgbClr val="F1EEF3"/>
    <a:srgbClr val="0073CE"/>
    <a:srgbClr val="1880D3"/>
    <a:srgbClr val="2C4551"/>
    <a:srgbClr val="37A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ED40DD-59EE-4E8F-85E4-B2215B80D43D}" v="2" dt="2026-07-15T04:18:17.507"/>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686" autoAdjust="0"/>
  </p:normalViewPr>
  <p:slideViewPr>
    <p:cSldViewPr snapToGrid="0">
      <p:cViewPr varScale="1">
        <p:scale>
          <a:sx n="75" d="100"/>
          <a:sy n="75" d="100"/>
        </p:scale>
        <p:origin x="30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龍　海波" userId="0c70dd4b-4004-4767-a5b4-7e4df8389592" providerId="ADAL" clId="{48AEFC7B-7FF2-46A7-897C-2650FC0C3A51}"/>
    <pc:docChg chg="custSel modMainMaster">
      <pc:chgData name="龍　海波" userId="0c70dd4b-4004-4767-a5b4-7e4df8389592" providerId="ADAL" clId="{48AEFC7B-7FF2-46A7-897C-2650FC0C3A51}" dt="2026-07-15T04:18:28.361" v="3" actId="478"/>
      <pc:docMkLst>
        <pc:docMk/>
      </pc:docMkLst>
      <pc:sldMasterChg chg="modSldLayout">
        <pc:chgData name="龍　海波" userId="0c70dd4b-4004-4767-a5b4-7e4df8389592" providerId="ADAL" clId="{48AEFC7B-7FF2-46A7-897C-2650FC0C3A51}" dt="2026-07-15T04:18:28.361" v="3" actId="478"/>
        <pc:sldMasterMkLst>
          <pc:docMk/>
          <pc:sldMasterMk cId="1089842263" sldId="2147483648"/>
        </pc:sldMasterMkLst>
        <pc:sldLayoutChg chg="delSp mod setBg">
          <pc:chgData name="龍　海波" userId="0c70dd4b-4004-4767-a5b4-7e4df8389592" providerId="ADAL" clId="{48AEFC7B-7FF2-46A7-897C-2650FC0C3A51}" dt="2026-07-15T04:18:28.361" v="3" actId="478"/>
          <pc:sldLayoutMkLst>
            <pc:docMk/>
            <pc:sldMasterMk cId="1089842263" sldId="2147483648"/>
            <pc:sldLayoutMk cId="1669319136" sldId="2147483673"/>
          </pc:sldLayoutMkLst>
          <pc:spChg chg="del">
            <ac:chgData name="龍　海波" userId="0c70dd4b-4004-4767-a5b4-7e4df8389592" providerId="ADAL" clId="{48AEFC7B-7FF2-46A7-897C-2650FC0C3A51}" dt="2026-07-15T04:18:28.361" v="3" actId="478"/>
            <ac:spMkLst>
              <pc:docMk/>
              <pc:sldMasterMk cId="1089842263" sldId="2147483648"/>
              <pc:sldLayoutMk cId="1669319136" sldId="2147483673"/>
              <ac:spMk id="8" creationId="{4817DC41-1215-A6C0-4C88-636C2EFE7AD2}"/>
            </ac:spMkLst>
          </pc:spChg>
        </pc:sldLayoutChg>
        <pc:sldLayoutChg chg="delSp mod setBg">
          <pc:chgData name="龍　海波" userId="0c70dd4b-4004-4767-a5b4-7e4df8389592" providerId="ADAL" clId="{48AEFC7B-7FF2-46A7-897C-2650FC0C3A51}" dt="2026-07-15T04:18:23.606" v="2" actId="478"/>
          <pc:sldLayoutMkLst>
            <pc:docMk/>
            <pc:sldMasterMk cId="1089842263" sldId="2147483648"/>
            <pc:sldLayoutMk cId="2639631229" sldId="2147483674"/>
          </pc:sldLayoutMkLst>
          <pc:spChg chg="del">
            <ac:chgData name="龍　海波" userId="0c70dd4b-4004-4767-a5b4-7e4df8389592" providerId="ADAL" clId="{48AEFC7B-7FF2-46A7-897C-2650FC0C3A51}" dt="2026-07-15T04:18:23.606" v="2" actId="478"/>
            <ac:spMkLst>
              <pc:docMk/>
              <pc:sldMasterMk cId="1089842263" sldId="2147483648"/>
              <pc:sldLayoutMk cId="2639631229" sldId="2147483674"/>
              <ac:spMk id="8" creationId="{4817DC41-1215-A6C0-4C88-636C2EFE7AD2}"/>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7D271E-5F1A-45AA-B9B0-613E9A3D0031}" type="datetimeFigureOut">
              <a:rPr kumimoji="1" lang="ja-JP" altLang="en-US" smtClean="0"/>
              <a:t>2026/7/15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C60CCE-B517-4958-99BC-E9CA4775345E}" type="slidenum">
              <a:rPr kumimoji="1" lang="ja-JP" altLang="en-US" smtClean="0"/>
              <a:t>‹#›</a:t>
            </a:fld>
            <a:endParaRPr kumimoji="1" lang="ja-JP" altLang="en-US"/>
          </a:p>
        </p:txBody>
      </p:sp>
    </p:spTree>
    <p:extLst>
      <p:ext uri="{BB962C8B-B14F-4D97-AF65-F5344CB8AC3E}">
        <p14:creationId xmlns:p14="http://schemas.microsoft.com/office/powerpoint/2010/main" val="209226543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9BC60CCE-B517-4958-99BC-E9CA4775345E}" type="slidenum">
              <a:rPr kumimoji="1" lang="ja-JP" altLang="en-US" smtClean="0"/>
              <a:t>1</a:t>
            </a:fld>
            <a:endParaRPr kumimoji="1" lang="ja-JP" altLang="en-US"/>
          </a:p>
        </p:txBody>
      </p:sp>
    </p:spTree>
    <p:extLst>
      <p:ext uri="{BB962C8B-B14F-4D97-AF65-F5344CB8AC3E}">
        <p14:creationId xmlns:p14="http://schemas.microsoft.com/office/powerpoint/2010/main" val="1997272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9BC60CCE-B517-4958-99BC-E9CA4775345E}" type="slidenum">
              <a:rPr kumimoji="1" lang="ja-JP" altLang="en-US" smtClean="0"/>
              <a:t>3</a:t>
            </a:fld>
            <a:endParaRPr kumimoji="1" lang="ja-JP" altLang="en-US"/>
          </a:p>
        </p:txBody>
      </p:sp>
    </p:spTree>
    <p:extLst>
      <p:ext uri="{BB962C8B-B14F-4D97-AF65-F5344CB8AC3E}">
        <p14:creationId xmlns:p14="http://schemas.microsoft.com/office/powerpoint/2010/main" val="2668236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5F5BBE-85A2-C67D-5A5A-C76E2EEDE51E}"/>
              </a:ext>
            </a:extLst>
          </p:cNvPr>
          <p:cNvSpPr>
            <a:spLocks noGrp="1"/>
          </p:cNvSpPr>
          <p:nvPr>
            <p:ph type="title"/>
          </p:nvPr>
        </p:nvSpPr>
        <p:spPr>
          <a:xfrm>
            <a:off x="0" y="5822"/>
            <a:ext cx="12192000" cy="891646"/>
          </a:xfrm>
        </p:spPr>
        <p:txBody>
          <a:bodyPr>
            <a:normAutofit/>
          </a:bodyPr>
          <a:lstStyle>
            <a:lvl1pPr>
              <a:defRPr sz="1800" b="1">
                <a:latin typeface="Microsoft YaHei" panose="020B0503020204020204" pitchFamily="34" charset="-122"/>
                <a:ea typeface="Microsoft YaHei" panose="020B0503020204020204" pitchFamily="34" charset="-122"/>
              </a:defRPr>
            </a:lvl1p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7577F6E-BFD4-9261-D623-03E12E2506FC}"/>
              </a:ext>
            </a:extLst>
          </p:cNvPr>
          <p:cNvSpPr>
            <a:spLocks noGrp="1"/>
          </p:cNvSpPr>
          <p:nvPr>
            <p:ph type="dt" sz="half" idx="10"/>
          </p:nvPr>
        </p:nvSpPr>
        <p:spPr/>
        <p:txBody>
          <a:bodyPr/>
          <a:lstStyle/>
          <a:p>
            <a:fld id="{395B41F7-726A-4EE9-9126-08E92CA039CF}" type="datetimeFigureOut">
              <a:rPr kumimoji="1" lang="ja-JP" altLang="en-US" smtClean="0"/>
              <a:t>2026/7/15</a:t>
            </a:fld>
            <a:endParaRPr kumimoji="1" lang="ja-JP" altLang="en-US"/>
          </a:p>
        </p:txBody>
      </p:sp>
      <p:sp>
        <p:nvSpPr>
          <p:cNvPr id="4" name="フッター プレースホルダー 3">
            <a:extLst>
              <a:ext uri="{FF2B5EF4-FFF2-40B4-BE49-F238E27FC236}">
                <a16:creationId xmlns:a16="http://schemas.microsoft.com/office/drawing/2014/main" id="{04FF2D15-867A-8D6A-A256-AE0F6D90A05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EA896BC-32E7-DFC1-9B97-8A7A16A89784}"/>
              </a:ext>
            </a:extLst>
          </p:cNvPr>
          <p:cNvSpPr>
            <a:spLocks noGrp="1"/>
          </p:cNvSpPr>
          <p:nvPr>
            <p:ph type="sldNum" sz="quarter" idx="12"/>
          </p:nvPr>
        </p:nvSpPr>
        <p:spPr/>
        <p:txBody>
          <a:bodyPr/>
          <a:lstStyle/>
          <a:p>
            <a:fld id="{8F50DBE5-72F7-4F74-A39E-A556B7A74CF4}" type="slidenum">
              <a:rPr kumimoji="1" lang="ja-JP" altLang="en-US" smtClean="0"/>
              <a:t>‹#›</a:t>
            </a:fld>
            <a:endParaRPr kumimoji="1" lang="ja-JP" altLang="en-US"/>
          </a:p>
        </p:txBody>
      </p:sp>
    </p:spTree>
    <p:extLst>
      <p:ext uri="{BB962C8B-B14F-4D97-AF65-F5344CB8AC3E}">
        <p14:creationId xmlns:p14="http://schemas.microsoft.com/office/powerpoint/2010/main" val="3584367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57E96B8E-B3D9-23A8-03C7-CAB6A9B3BE09}"/>
              </a:ext>
            </a:extLst>
          </p:cNvPr>
          <p:cNvSpPr>
            <a:spLocks noGrp="1"/>
          </p:cNvSpPr>
          <p:nvPr>
            <p:ph type="dt" sz="half" idx="10"/>
          </p:nvPr>
        </p:nvSpPr>
        <p:spPr/>
        <p:txBody>
          <a:bodyPr/>
          <a:lstStyle/>
          <a:p>
            <a:fld id="{395B41F7-726A-4EE9-9126-08E92CA039CF}" type="datetimeFigureOut">
              <a:rPr kumimoji="1" lang="ja-JP" altLang="en-US" smtClean="0"/>
              <a:t>2026/7/15</a:t>
            </a:fld>
            <a:endParaRPr kumimoji="1" lang="ja-JP" altLang="en-US"/>
          </a:p>
        </p:txBody>
      </p:sp>
      <p:sp>
        <p:nvSpPr>
          <p:cNvPr id="3" name="フッター プレースホルダー 2">
            <a:extLst>
              <a:ext uri="{FF2B5EF4-FFF2-40B4-BE49-F238E27FC236}">
                <a16:creationId xmlns:a16="http://schemas.microsoft.com/office/drawing/2014/main" id="{A55E6A97-C383-FFE8-1ACD-C356220F817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506C808-6FC4-F46C-98EC-BCB7E03C7999}"/>
              </a:ext>
            </a:extLst>
          </p:cNvPr>
          <p:cNvSpPr>
            <a:spLocks noGrp="1"/>
          </p:cNvSpPr>
          <p:nvPr>
            <p:ph type="sldNum" sz="quarter" idx="12"/>
          </p:nvPr>
        </p:nvSpPr>
        <p:spPr/>
        <p:txBody>
          <a:bodyPr/>
          <a:lstStyle/>
          <a:p>
            <a:fld id="{8F50DBE5-72F7-4F74-A39E-A556B7A74CF4}" type="slidenum">
              <a:rPr kumimoji="1" lang="ja-JP" altLang="en-US" smtClean="0"/>
              <a:t>‹#›</a:t>
            </a:fld>
            <a:endParaRPr kumimoji="1" lang="ja-JP" altLang="en-US"/>
          </a:p>
        </p:txBody>
      </p:sp>
    </p:spTree>
    <p:extLst>
      <p:ext uri="{BB962C8B-B14F-4D97-AF65-F5344CB8AC3E}">
        <p14:creationId xmlns:p14="http://schemas.microsoft.com/office/powerpoint/2010/main" val="2838431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本文ページ（White）_1">
    <p:bg>
      <p:bgRef idx="1001">
        <a:schemeClr val="bg1"/>
      </p:bgRef>
    </p:bg>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023D640A-F364-BA6E-7B4B-222DF43A1541}"/>
              </a:ext>
            </a:extLst>
          </p:cNvPr>
          <p:cNvSpPr txBox="1">
            <a:spLocks/>
          </p:cNvSpPr>
          <p:nvPr/>
        </p:nvSpPr>
        <p:spPr>
          <a:xfrm>
            <a:off x="9133619" y="6326799"/>
            <a:ext cx="2743200" cy="299463"/>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tx1"/>
                </a:solidFill>
              </a:rPr>
              <a:pPr/>
              <a:t>‹#›</a:t>
            </a:fld>
            <a:endParaRPr kumimoji="1" lang="ja-JP" altLang="en-US" sz="1600">
              <a:solidFill>
                <a:schemeClr val="tx1"/>
              </a:solidFill>
            </a:endParaRPr>
          </a:p>
        </p:txBody>
      </p:sp>
      <p:sp>
        <p:nvSpPr>
          <p:cNvPr id="3" name="テキスト プレースホルダー 12">
            <a:extLst>
              <a:ext uri="{FF2B5EF4-FFF2-40B4-BE49-F238E27FC236}">
                <a16:creationId xmlns:a16="http://schemas.microsoft.com/office/drawing/2014/main" id="{F295DF3E-40BF-7535-7BDE-41DFEAEE85B4}"/>
              </a:ext>
            </a:extLst>
          </p:cNvPr>
          <p:cNvSpPr>
            <a:spLocks noGrp="1"/>
          </p:cNvSpPr>
          <p:nvPr>
            <p:ph type="body" sz="quarter" idx="16" hasCustomPrompt="1"/>
          </p:nvPr>
        </p:nvSpPr>
        <p:spPr>
          <a:xfrm>
            <a:off x="398025" y="347571"/>
            <a:ext cx="9360000" cy="432000"/>
          </a:xfrm>
          <a:prstGeom prst="rect">
            <a:avLst/>
          </a:prstGeom>
        </p:spPr>
        <p:txBody>
          <a:bodyPr lIns="0" tIns="0" rIns="0">
            <a:noAutofit/>
          </a:bodyPr>
          <a:lstStyle>
            <a:lvl1pPr marL="0" indent="0">
              <a:buNone/>
              <a:defRPr sz="2800" b="1" i="0">
                <a:solidFill>
                  <a:schemeClr val="tx1"/>
                </a:solidFill>
                <a:latin typeface="Yu Gothic" panose="020B0400000000000000" pitchFamily="34" charset="-128"/>
                <a:ea typeface="Yu Gothic" panose="020B0400000000000000" pitchFamily="34" charset="-128"/>
              </a:defRPr>
            </a:lvl1pPr>
          </a:lstStyle>
          <a:p>
            <a:pPr lvl="0"/>
            <a:r>
              <a:rPr kumimoji="1" lang="ja-JP" altLang="en-US"/>
              <a:t>タイトルの書式設定</a:t>
            </a:r>
          </a:p>
        </p:txBody>
      </p:sp>
      <p:sp>
        <p:nvSpPr>
          <p:cNvPr id="5" name="テキスト プレースホルダー 12">
            <a:extLst>
              <a:ext uri="{FF2B5EF4-FFF2-40B4-BE49-F238E27FC236}">
                <a16:creationId xmlns:a16="http://schemas.microsoft.com/office/drawing/2014/main" id="{D2BF2330-A7EB-FA53-0870-3EF26ACA6F67}"/>
              </a:ext>
            </a:extLst>
          </p:cNvPr>
          <p:cNvSpPr>
            <a:spLocks noGrp="1"/>
          </p:cNvSpPr>
          <p:nvPr>
            <p:ph type="body" sz="quarter" idx="15" hasCustomPrompt="1"/>
          </p:nvPr>
        </p:nvSpPr>
        <p:spPr>
          <a:xfrm>
            <a:off x="814919" y="1268414"/>
            <a:ext cx="10562800" cy="4944103"/>
          </a:xfrm>
          <a:prstGeom prst="rect">
            <a:avLst/>
          </a:prstGeom>
        </p:spPr>
        <p:txBody>
          <a:bodyPr lIns="0" tIns="0" rIns="0" bIns="0">
            <a:noAutofit/>
          </a:bodyPr>
          <a:lstStyle>
            <a:lvl1pPr marL="342891" indent="-342891" defTabSz="479956">
              <a:buFont typeface="Arial" panose="020B0604020202020204" pitchFamily="34" charset="0"/>
              <a:buChar char="•"/>
              <a:defRPr sz="2800" b="0" i="0">
                <a:solidFill>
                  <a:schemeClr val="tx1"/>
                </a:solidFill>
                <a:latin typeface="Yu Gothic Medium" panose="020B0400000000000000" pitchFamily="34" charset="-128"/>
                <a:ea typeface="Yu Gothic Medium" panose="020B0400000000000000" pitchFamily="34" charset="-128"/>
              </a:defRPr>
            </a:lvl1pPr>
            <a:lvl2pPr>
              <a:defRPr b="0" i="0">
                <a:solidFill>
                  <a:schemeClr val="tx1"/>
                </a:solidFill>
                <a:latin typeface="Yu Gothic Medium" panose="020B0400000000000000" pitchFamily="34" charset="-128"/>
                <a:ea typeface="Yu Gothic Medium" panose="020B0400000000000000" pitchFamily="34" charset="-128"/>
              </a:defRPr>
            </a:lvl2pPr>
            <a:lvl3pPr>
              <a:defRPr b="0" i="0">
                <a:solidFill>
                  <a:schemeClr val="tx1"/>
                </a:solidFill>
                <a:latin typeface="Yu Gothic Medium" panose="020B0400000000000000" pitchFamily="34" charset="-128"/>
                <a:ea typeface="Yu Gothic Medium" panose="020B0400000000000000" pitchFamily="34" charset="-128"/>
              </a:defRPr>
            </a:lvl3pPr>
            <a:lvl4pPr>
              <a:defRPr b="0" i="0">
                <a:solidFill>
                  <a:schemeClr val="tx1"/>
                </a:solidFill>
                <a:latin typeface="Yu Gothic Medium" panose="020B0400000000000000" pitchFamily="34" charset="-128"/>
                <a:ea typeface="Yu Gothic Medium" panose="020B0400000000000000" pitchFamily="34" charset="-128"/>
              </a:defRPr>
            </a:lvl4pPr>
            <a:lvl5pPr>
              <a:defRPr b="0" i="0">
                <a:solidFill>
                  <a:schemeClr val="tx1"/>
                </a:solidFill>
                <a:latin typeface="Yu Gothic Medium" panose="020B0400000000000000" pitchFamily="34" charset="-128"/>
                <a:ea typeface="Yu Gothic Medium" panose="020B0400000000000000" pitchFamily="34" charset="-128"/>
              </a:defRPr>
            </a:lvl5pPr>
            <a:lvl6pPr>
              <a:defRPr b="0" i="0">
                <a:solidFill>
                  <a:schemeClr val="bg1"/>
                </a:solidFill>
                <a:latin typeface="Yu Gothic Medium" panose="020B0400000000000000" pitchFamily="34" charset="-128"/>
                <a:ea typeface="Yu Gothic Medium" panose="020B0400000000000000" pitchFamily="34" charset="-128"/>
              </a:defRPr>
            </a:lvl6pPr>
            <a:lvl7pPr>
              <a:defRPr b="0" i="0">
                <a:solidFill>
                  <a:schemeClr val="bg1"/>
                </a:solidFill>
              </a:defRPr>
            </a:lvl7pPr>
          </a:lstStyle>
          <a:p>
            <a:pPr lvl="0"/>
            <a:r>
              <a:rPr kumimoji="1" lang="ja-JP" altLang="en-US"/>
              <a:t>テキストの書式設定</a:t>
            </a:r>
            <a:endParaRPr kumimoji="1" lang="en-US" altLang="ja-JP" dirty="0"/>
          </a:p>
          <a:p>
            <a:pPr lvl="1"/>
            <a:r>
              <a:rPr kumimoji="1" lang="ja-JP" altLang="en-US"/>
              <a:t>テキスト</a:t>
            </a:r>
            <a:endParaRPr kumimoji="1" lang="en-US" altLang="ja-JP" dirty="0"/>
          </a:p>
          <a:p>
            <a:pPr lvl="2"/>
            <a:r>
              <a:rPr kumimoji="1" lang="ja-JP" altLang="en-US"/>
              <a:t>テキスト</a:t>
            </a:r>
            <a:endParaRPr kumimoji="1" lang="en-US" altLang="ja-JP" dirty="0"/>
          </a:p>
          <a:p>
            <a:pPr lvl="3"/>
            <a:r>
              <a:rPr kumimoji="1" lang="ja-JP" altLang="en-US"/>
              <a:t>テキスト</a:t>
            </a:r>
            <a:endParaRPr kumimoji="1" lang="en-US" altLang="ja-JP" dirty="0"/>
          </a:p>
          <a:p>
            <a:pPr lvl="4"/>
            <a:r>
              <a:rPr kumimoji="1" lang="ja-JP" altLang="en-US"/>
              <a:t>テキスト</a:t>
            </a:r>
            <a:endParaRPr kumimoji="1" lang="en-US" altLang="ja-JP" dirty="0"/>
          </a:p>
        </p:txBody>
      </p:sp>
    </p:spTree>
    <p:extLst>
      <p:ext uri="{BB962C8B-B14F-4D97-AF65-F5344CB8AC3E}">
        <p14:creationId xmlns:p14="http://schemas.microsoft.com/office/powerpoint/2010/main" val="166931913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本文ページ（White）_1">
    <p:bg>
      <p:bgRef idx="1001">
        <a:schemeClr val="bg1"/>
      </p:bgRef>
    </p:bg>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023D640A-F364-BA6E-7B4B-222DF43A1541}"/>
              </a:ext>
            </a:extLst>
          </p:cNvPr>
          <p:cNvSpPr txBox="1">
            <a:spLocks/>
          </p:cNvSpPr>
          <p:nvPr/>
        </p:nvSpPr>
        <p:spPr>
          <a:xfrm>
            <a:off x="9133619" y="6326799"/>
            <a:ext cx="2743200" cy="299463"/>
          </a:xfrm>
          <a:prstGeom prst="rect">
            <a:avLst/>
          </a:prstGeom>
        </p:spPr>
        <p:txBody>
          <a:bodyPr anchor="b"/>
          <a:lstStyle>
            <a:defPPr>
              <a:defRPr lang="en-US"/>
            </a:defPPr>
            <a:lvl1pPr marL="0" algn="r" defTabSz="304670" rtl="0" eaLnBrk="1" latinLnBrk="0" hangingPunct="1">
              <a:defRPr sz="1600" b="0" i="0" kern="1200">
                <a:solidFill>
                  <a:srgbClr val="003D86"/>
                </a:solidFill>
                <a:latin typeface="Yu Gothic Medium" panose="020B0400000000000000" pitchFamily="34" charset="-128"/>
                <a:ea typeface="Yu Gothic Medium" panose="020B0400000000000000" pitchFamily="34" charset="-128"/>
                <a:cs typeface="+mn-cs"/>
              </a:defRPr>
            </a:lvl1pPr>
            <a:lvl2pPr marL="304670" algn="l" defTabSz="304670" rtl="0" eaLnBrk="1" latinLnBrk="0" hangingPunct="1">
              <a:defRPr sz="1200" kern="1200">
                <a:solidFill>
                  <a:schemeClr val="tx1"/>
                </a:solidFill>
                <a:latin typeface="+mn-lt"/>
                <a:ea typeface="+mn-ea"/>
                <a:cs typeface="+mn-cs"/>
              </a:defRPr>
            </a:lvl2pPr>
            <a:lvl3pPr marL="609336" algn="l" defTabSz="304670" rtl="0" eaLnBrk="1" latinLnBrk="0" hangingPunct="1">
              <a:defRPr sz="1200" kern="1200">
                <a:solidFill>
                  <a:schemeClr val="tx1"/>
                </a:solidFill>
                <a:latin typeface="+mn-lt"/>
                <a:ea typeface="+mn-ea"/>
                <a:cs typeface="+mn-cs"/>
              </a:defRPr>
            </a:lvl3pPr>
            <a:lvl4pPr marL="914005" algn="l" defTabSz="304670" rtl="0" eaLnBrk="1" latinLnBrk="0" hangingPunct="1">
              <a:defRPr sz="1200" kern="1200">
                <a:solidFill>
                  <a:schemeClr val="tx1"/>
                </a:solidFill>
                <a:latin typeface="+mn-lt"/>
                <a:ea typeface="+mn-ea"/>
                <a:cs typeface="+mn-cs"/>
              </a:defRPr>
            </a:lvl4pPr>
            <a:lvl5pPr marL="1218672" algn="l" defTabSz="304670" rtl="0" eaLnBrk="1" latinLnBrk="0" hangingPunct="1">
              <a:defRPr sz="1200" kern="1200">
                <a:solidFill>
                  <a:schemeClr val="tx1"/>
                </a:solidFill>
                <a:latin typeface="+mn-lt"/>
                <a:ea typeface="+mn-ea"/>
                <a:cs typeface="+mn-cs"/>
              </a:defRPr>
            </a:lvl5pPr>
            <a:lvl6pPr marL="1523340" algn="l" defTabSz="304670" rtl="0" eaLnBrk="1" latinLnBrk="0" hangingPunct="1">
              <a:defRPr sz="1200" kern="1200">
                <a:solidFill>
                  <a:schemeClr val="tx1"/>
                </a:solidFill>
                <a:latin typeface="+mn-lt"/>
                <a:ea typeface="+mn-ea"/>
                <a:cs typeface="+mn-cs"/>
              </a:defRPr>
            </a:lvl6pPr>
            <a:lvl7pPr marL="1828007" algn="l" defTabSz="304670" rtl="0" eaLnBrk="1" latinLnBrk="0" hangingPunct="1">
              <a:defRPr sz="1200" kern="1200">
                <a:solidFill>
                  <a:schemeClr val="tx1"/>
                </a:solidFill>
                <a:latin typeface="+mn-lt"/>
                <a:ea typeface="+mn-ea"/>
                <a:cs typeface="+mn-cs"/>
              </a:defRPr>
            </a:lvl7pPr>
            <a:lvl8pPr marL="2132675" algn="l" defTabSz="304670" rtl="0" eaLnBrk="1" latinLnBrk="0" hangingPunct="1">
              <a:defRPr sz="1200" kern="1200">
                <a:solidFill>
                  <a:schemeClr val="tx1"/>
                </a:solidFill>
                <a:latin typeface="+mn-lt"/>
                <a:ea typeface="+mn-ea"/>
                <a:cs typeface="+mn-cs"/>
              </a:defRPr>
            </a:lvl8pPr>
            <a:lvl9pPr marL="2437344" algn="l" defTabSz="304670" rtl="0" eaLnBrk="1" latinLnBrk="0" hangingPunct="1">
              <a:defRPr sz="1200" kern="1200">
                <a:solidFill>
                  <a:schemeClr val="tx1"/>
                </a:solidFill>
                <a:latin typeface="+mn-lt"/>
                <a:ea typeface="+mn-ea"/>
                <a:cs typeface="+mn-cs"/>
              </a:defRPr>
            </a:lvl9pPr>
          </a:lstStyle>
          <a:p>
            <a:fld id="{F61D7DA0-AA9A-8342-BE3E-6EB34F8DE2BC}" type="slidenum">
              <a:rPr kumimoji="1" lang="ja-JP" altLang="en-US" sz="1600" smtClean="0">
                <a:solidFill>
                  <a:schemeClr val="tx1"/>
                </a:solidFill>
              </a:rPr>
              <a:pPr/>
              <a:t>‹#›</a:t>
            </a:fld>
            <a:endParaRPr kumimoji="1" lang="ja-JP" altLang="en-US" sz="1600">
              <a:solidFill>
                <a:schemeClr val="tx1"/>
              </a:solidFill>
            </a:endParaRPr>
          </a:p>
        </p:txBody>
      </p:sp>
      <p:sp>
        <p:nvSpPr>
          <p:cNvPr id="3" name="テキスト プレースホルダー 12">
            <a:extLst>
              <a:ext uri="{FF2B5EF4-FFF2-40B4-BE49-F238E27FC236}">
                <a16:creationId xmlns:a16="http://schemas.microsoft.com/office/drawing/2014/main" id="{F295DF3E-40BF-7535-7BDE-41DFEAEE85B4}"/>
              </a:ext>
            </a:extLst>
          </p:cNvPr>
          <p:cNvSpPr>
            <a:spLocks noGrp="1"/>
          </p:cNvSpPr>
          <p:nvPr>
            <p:ph type="body" sz="quarter" idx="16" hasCustomPrompt="1"/>
          </p:nvPr>
        </p:nvSpPr>
        <p:spPr>
          <a:xfrm>
            <a:off x="398025" y="347571"/>
            <a:ext cx="9360000" cy="432000"/>
          </a:xfrm>
          <a:prstGeom prst="rect">
            <a:avLst/>
          </a:prstGeom>
        </p:spPr>
        <p:txBody>
          <a:bodyPr lIns="0" tIns="0" rIns="0">
            <a:noAutofit/>
          </a:bodyPr>
          <a:lstStyle>
            <a:lvl1pPr marL="0" indent="0">
              <a:buNone/>
              <a:defRPr sz="2800" b="1" i="0">
                <a:solidFill>
                  <a:schemeClr val="tx1"/>
                </a:solidFill>
                <a:latin typeface="Yu Gothic" panose="020B0400000000000000" pitchFamily="34" charset="-128"/>
                <a:ea typeface="Yu Gothic" panose="020B0400000000000000" pitchFamily="34" charset="-128"/>
              </a:defRPr>
            </a:lvl1pPr>
          </a:lstStyle>
          <a:p>
            <a:pPr lvl="0"/>
            <a:r>
              <a:rPr kumimoji="1" lang="ja-JP" altLang="en-US"/>
              <a:t>タイトルの書式設定</a:t>
            </a:r>
          </a:p>
        </p:txBody>
      </p:sp>
    </p:spTree>
    <p:extLst>
      <p:ext uri="{BB962C8B-B14F-4D97-AF65-F5344CB8AC3E}">
        <p14:creationId xmlns:p14="http://schemas.microsoft.com/office/powerpoint/2010/main" val="26396312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8DE7E06-E31A-F583-12F6-BC70DA2260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FF9D886B-E224-2C91-94CD-759D8DE49B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F771BF1-5D45-F695-ACDC-FC59111F73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5B41F7-726A-4EE9-9126-08E92CA039CF}" type="datetimeFigureOut">
              <a:rPr kumimoji="1" lang="ja-JP" altLang="en-US" smtClean="0"/>
              <a:t>2026/7/15</a:t>
            </a:fld>
            <a:endParaRPr kumimoji="1" lang="ja-JP" altLang="en-US"/>
          </a:p>
        </p:txBody>
      </p:sp>
      <p:sp>
        <p:nvSpPr>
          <p:cNvPr id="5" name="フッター プレースホルダー 4">
            <a:extLst>
              <a:ext uri="{FF2B5EF4-FFF2-40B4-BE49-F238E27FC236}">
                <a16:creationId xmlns:a16="http://schemas.microsoft.com/office/drawing/2014/main" id="{3DA23038-17D4-3693-6B60-1A9A762667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F67D6F4-6BFA-8F79-1029-01F989F67E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F50DBE5-72F7-4F74-A39E-A556B7A74CF4}" type="slidenum">
              <a:rPr kumimoji="1" lang="ja-JP" altLang="en-US" smtClean="0"/>
              <a:t>‹#›</a:t>
            </a:fld>
            <a:endParaRPr kumimoji="1" lang="ja-JP" altLang="en-US"/>
          </a:p>
        </p:txBody>
      </p:sp>
    </p:spTree>
    <p:extLst>
      <p:ext uri="{BB962C8B-B14F-4D97-AF65-F5344CB8AC3E}">
        <p14:creationId xmlns:p14="http://schemas.microsoft.com/office/powerpoint/2010/main" val="1089842263"/>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73" r:id="rId3"/>
    <p:sldLayoutId id="2147483674" r:id="rId4"/>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learningcontent.aveva.com/learningcontent/Online%20Course%20Workbooks/Configuring%20Modern%20Claims-based%20Authentication%20with%20OpenID%20Connect%20across%20the%20AVEVA%20PI%20System%20Workbook_v2026.pdf"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hyperlink" Target="https://docs.aveva.com/bundle/identity-manager/page/1271206.html" TargetMode="External"/><Relationship Id="rId5" Type="http://schemas.openxmlformats.org/officeDocument/2006/relationships/hyperlink" Target="https://cdn.mediavalet.com/eunl/content/BTzF_64LpEqmRw2abtzbvw/9_gPo2UfTE6V-SiAqmeqSQ/Original/Implementing%20claims%20authentication%20in%20AVEVA%20%20PI%20System.pdf" TargetMode="External"/><Relationship Id="rId4" Type="http://schemas.openxmlformats.org/officeDocument/2006/relationships/hyperlink" Target="https://docs.aveva.com/bundle/pi-server-f-af-pse/page/1160208.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docs.aveva.com/bundle/pi-server-f-da-smt/page/1197017.html"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hyperlink" Target="https://docs.aveva.com/bundle/pi-server-f-af-pse/page/1160208.html" TargetMode="External"/><Relationship Id="rId5" Type="http://schemas.openxmlformats.org/officeDocument/2006/relationships/hyperlink" Target="https://cdn.mediavalet.com/eunl/content/BTzF_64LpEqmRw2abtzbvw/9_gPo2UfTE6V-SiAqmeqSQ/Original/Implementing%20claims%20authentication%20in%20AVEVA%20%20PI%20System.pdf"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svg"/><Relationship Id="rId2" Type="http://schemas.openxmlformats.org/officeDocument/2006/relationships/image" Target="../media/image3.svg"/><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1.wdp"/><Relationship Id="rId9" Type="http://schemas.microsoft.com/office/2007/relationships/hdphoto" Target="../media/hdphoto2.wdp"/></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44A36-F82F-703B-DE41-E7EA5D87D699}"/>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4C301E4-CB30-9A74-C1DC-67B883D0DCCF}"/>
              </a:ext>
            </a:extLst>
          </p:cNvPr>
          <p:cNvSpPr>
            <a:spLocks noGrp="1"/>
          </p:cNvSpPr>
          <p:nvPr>
            <p:ph type="body" sz="quarter" idx="16"/>
          </p:nvPr>
        </p:nvSpPr>
        <p:spPr/>
        <p:txBody>
          <a:bodyPr/>
          <a:lstStyle/>
          <a:p>
            <a:r>
              <a:rPr lang="en-US" altLang="ja-JP" dirty="0"/>
              <a:t>PI</a:t>
            </a:r>
            <a:r>
              <a:rPr lang="ja-JP" altLang="en-US" dirty="0"/>
              <a:t>認証系 </a:t>
            </a:r>
            <a:r>
              <a:rPr lang="en-US" altLang="ja-JP" dirty="0"/>
              <a:t>OIDC</a:t>
            </a:r>
            <a:r>
              <a:rPr lang="ja-JP" altLang="en-US" dirty="0"/>
              <a:t> </a:t>
            </a:r>
            <a:r>
              <a:rPr lang="en-US" altLang="ja-JP" dirty="0"/>
              <a:t>vs</a:t>
            </a:r>
            <a:r>
              <a:rPr lang="ja-JP" altLang="en-US" dirty="0"/>
              <a:t> </a:t>
            </a:r>
            <a:r>
              <a:rPr lang="en-US" altLang="ja-JP" dirty="0"/>
              <a:t>AD(</a:t>
            </a:r>
            <a:r>
              <a:rPr lang="ja-JP" altLang="en-US" dirty="0"/>
              <a:t>メリット・ディメリット</a:t>
            </a:r>
            <a:r>
              <a:rPr lang="en-US" altLang="ja-JP" dirty="0"/>
              <a:t>)</a:t>
            </a:r>
            <a:endParaRPr lang="ja-JP" altLang="en-US" dirty="0"/>
          </a:p>
        </p:txBody>
      </p:sp>
      <p:graphicFrame>
        <p:nvGraphicFramePr>
          <p:cNvPr id="7" name="表 6">
            <a:extLst>
              <a:ext uri="{FF2B5EF4-FFF2-40B4-BE49-F238E27FC236}">
                <a16:creationId xmlns:a16="http://schemas.microsoft.com/office/drawing/2014/main" id="{5592FD44-7CD0-EFF5-A1A2-9533A7EAA66E}"/>
              </a:ext>
            </a:extLst>
          </p:cNvPr>
          <p:cNvGraphicFramePr>
            <a:graphicFrameLocks noGrp="1"/>
          </p:cNvGraphicFramePr>
          <p:nvPr>
            <p:extLst>
              <p:ext uri="{D42A27DB-BD31-4B8C-83A1-F6EECF244321}">
                <p14:modId xmlns:p14="http://schemas.microsoft.com/office/powerpoint/2010/main" val="1450536184"/>
              </p:ext>
            </p:extLst>
          </p:nvPr>
        </p:nvGraphicFramePr>
        <p:xfrm>
          <a:off x="385190" y="764725"/>
          <a:ext cx="11578832" cy="4750552"/>
        </p:xfrm>
        <a:graphic>
          <a:graphicData uri="http://schemas.openxmlformats.org/drawingml/2006/table">
            <a:tbl>
              <a:tblPr/>
              <a:tblGrid>
                <a:gridCol w="1467351">
                  <a:extLst>
                    <a:ext uri="{9D8B030D-6E8A-4147-A177-3AD203B41FA5}">
                      <a16:colId xmlns:a16="http://schemas.microsoft.com/office/drawing/2014/main" val="3719904595"/>
                    </a:ext>
                  </a:extLst>
                </a:gridCol>
                <a:gridCol w="3268099">
                  <a:extLst>
                    <a:ext uri="{9D8B030D-6E8A-4147-A177-3AD203B41FA5}">
                      <a16:colId xmlns:a16="http://schemas.microsoft.com/office/drawing/2014/main" val="1204078570"/>
                    </a:ext>
                  </a:extLst>
                </a:gridCol>
                <a:gridCol w="4087368">
                  <a:extLst>
                    <a:ext uri="{9D8B030D-6E8A-4147-A177-3AD203B41FA5}">
                      <a16:colId xmlns:a16="http://schemas.microsoft.com/office/drawing/2014/main" val="2464545506"/>
                    </a:ext>
                  </a:extLst>
                </a:gridCol>
                <a:gridCol w="2756014">
                  <a:extLst>
                    <a:ext uri="{9D8B030D-6E8A-4147-A177-3AD203B41FA5}">
                      <a16:colId xmlns:a16="http://schemas.microsoft.com/office/drawing/2014/main" val="3280422417"/>
                    </a:ext>
                  </a:extLst>
                </a:gridCol>
              </a:tblGrid>
              <a:tr h="301527">
                <a:tc>
                  <a:txBody>
                    <a:bodyPr/>
                    <a:lstStyle/>
                    <a:p>
                      <a:pPr algn="ctr">
                        <a:buNone/>
                      </a:pPr>
                      <a:r>
                        <a:rPr lang="ja-JP" sz="1400" b="1" dirty="0">
                          <a:latin typeface="+mn-ea"/>
                          <a:ea typeface="+mn-ea"/>
                        </a:rPr>
                        <a:t>認証方式</a:t>
                      </a:r>
                    </a:p>
                  </a:txBody>
                  <a:tcPr marL="63063" marR="63063" marT="31531" marB="315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E95D9"/>
                    </a:solidFill>
                  </a:tcPr>
                </a:tc>
                <a:tc>
                  <a:txBody>
                    <a:bodyPr/>
                    <a:lstStyle/>
                    <a:p>
                      <a:pPr algn="ctr">
                        <a:buNone/>
                      </a:pPr>
                      <a:r>
                        <a:rPr lang="ja-JP" sz="1400" b="1" dirty="0">
                          <a:latin typeface="+mn-ea"/>
                          <a:ea typeface="+mn-ea"/>
                        </a:rPr>
                        <a:t>メリット</a:t>
                      </a:r>
                    </a:p>
                  </a:txBody>
                  <a:tcPr marL="63063" marR="63063" marT="31531" marB="315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E95D9"/>
                    </a:solidFill>
                  </a:tcPr>
                </a:tc>
                <a:tc>
                  <a:txBody>
                    <a:bodyPr/>
                    <a:lstStyle/>
                    <a:p>
                      <a:pPr algn="ctr">
                        <a:buNone/>
                      </a:pPr>
                      <a:r>
                        <a:rPr lang="ja-JP" sz="1400" b="1" dirty="0">
                          <a:latin typeface="+mn-ea"/>
                          <a:ea typeface="+mn-ea"/>
                        </a:rPr>
                        <a:t>デメリット</a:t>
                      </a:r>
                    </a:p>
                  </a:txBody>
                  <a:tcPr marL="63063" marR="63063" marT="31531" marB="315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E95D9"/>
                    </a:solidFill>
                  </a:tcPr>
                </a:tc>
                <a:tc>
                  <a:txBody>
                    <a:bodyPr/>
                    <a:lstStyle/>
                    <a:p>
                      <a:pPr algn="ctr">
                        <a:buNone/>
                      </a:pPr>
                      <a:r>
                        <a:rPr lang="ja-JP" sz="1400" b="1" dirty="0">
                          <a:latin typeface="+mn-ea"/>
                          <a:ea typeface="+mn-ea"/>
                        </a:rPr>
                        <a:t>適</a:t>
                      </a:r>
                      <a:r>
                        <a:rPr lang="ja-JP" altLang="en-US" sz="1400" b="1" dirty="0">
                          <a:latin typeface="+mn-ea"/>
                          <a:ea typeface="+mn-ea"/>
                        </a:rPr>
                        <a:t>する</a:t>
                      </a:r>
                      <a:r>
                        <a:rPr lang="ja-JP" sz="1400" b="1" dirty="0">
                          <a:latin typeface="+mn-ea"/>
                          <a:ea typeface="+mn-ea"/>
                        </a:rPr>
                        <a:t>環境</a:t>
                      </a:r>
                    </a:p>
                  </a:txBody>
                  <a:tcPr marL="63063" marR="63063" marT="31531" marB="315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E95D9"/>
                    </a:solidFill>
                  </a:tcPr>
                </a:tc>
                <a:extLst>
                  <a:ext uri="{0D108BD9-81ED-4DB2-BD59-A6C34878D82A}">
                    <a16:rowId xmlns:a16="http://schemas.microsoft.com/office/drawing/2014/main" val="3077243259"/>
                  </a:ext>
                </a:extLst>
              </a:tr>
              <a:tr h="2009548">
                <a:tc>
                  <a:txBody>
                    <a:bodyPr/>
                    <a:lstStyle/>
                    <a:p>
                      <a:pPr>
                        <a:buNone/>
                      </a:pPr>
                      <a:r>
                        <a:rPr lang="ja-JP" sz="1400" b="1" dirty="0">
                          <a:latin typeface="+mn-ea"/>
                          <a:ea typeface="+mn-ea"/>
                        </a:rPr>
                        <a:t>Windows AD </a:t>
                      </a:r>
                      <a:endParaRPr lang="en-US" altLang="ja-JP" sz="1400" b="1" dirty="0">
                        <a:latin typeface="+mn-ea"/>
                        <a:ea typeface="+mn-ea"/>
                      </a:endParaRPr>
                    </a:p>
                    <a:p>
                      <a:pPr>
                        <a:buNone/>
                      </a:pPr>
                      <a:r>
                        <a:rPr lang="ja-JP" sz="1400" b="1" dirty="0">
                          <a:latin typeface="+mn-ea"/>
                          <a:ea typeface="+mn-ea"/>
                        </a:rPr>
                        <a:t>/ Kerberos認証</a:t>
                      </a:r>
                      <a:endParaRPr lang="ja-JP" sz="1400" dirty="0">
                        <a:latin typeface="+mn-ea"/>
                        <a:ea typeface="+mn-ea"/>
                      </a:endParaRPr>
                    </a:p>
                  </a:txBody>
                  <a:tcPr marL="63063" marR="63063" marT="31531" marB="315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buNone/>
                      </a:pPr>
                      <a:r>
                        <a:rPr lang="ja-JP" sz="1400" dirty="0">
                          <a:latin typeface="+mn-ea"/>
                          <a:ea typeface="+mn-ea"/>
                        </a:rPr>
                        <a:t>・Windows環境</a:t>
                      </a:r>
                      <a:r>
                        <a:rPr lang="ja-JP" altLang="en-US" sz="1400" dirty="0">
                          <a:latin typeface="+mn-ea"/>
                          <a:ea typeface="+mn-ea"/>
                        </a:rPr>
                        <a:t>に</a:t>
                      </a:r>
                      <a:r>
                        <a:rPr lang="ja-JP" sz="1400" dirty="0">
                          <a:latin typeface="+mn-ea"/>
                          <a:ea typeface="+mn-ea"/>
                        </a:rPr>
                        <a:t>親和性が</a:t>
                      </a:r>
                      <a:r>
                        <a:rPr lang="ja-JP" altLang="en-US" sz="1400" dirty="0">
                          <a:latin typeface="+mn-ea"/>
                          <a:ea typeface="+mn-ea"/>
                        </a:rPr>
                        <a:t>良い</a:t>
                      </a:r>
                      <a:endParaRPr lang="en-US" altLang="ja-JP" sz="1400" dirty="0">
                        <a:latin typeface="+mn-ea"/>
                        <a:ea typeface="+mn-ea"/>
                      </a:endParaRPr>
                    </a:p>
                    <a:p>
                      <a:pPr>
                        <a:lnSpc>
                          <a:spcPct val="150000"/>
                        </a:lnSpc>
                        <a:buNone/>
                      </a:pPr>
                      <a:r>
                        <a:rPr lang="ja-JP" sz="1400" dirty="0">
                          <a:latin typeface="+mn-ea"/>
                          <a:ea typeface="+mn-ea"/>
                        </a:rPr>
                        <a:t>・</a:t>
                      </a:r>
                      <a:r>
                        <a:rPr lang="ja-JP" altLang="en-US" sz="1400" dirty="0">
                          <a:latin typeface="+mn-ea"/>
                          <a:ea typeface="+mn-ea"/>
                        </a:rPr>
                        <a:t>長年利用されている</a:t>
                      </a:r>
                      <a:r>
                        <a:rPr lang="ja-JP" sz="1400" dirty="0">
                          <a:latin typeface="+mn-ea"/>
                          <a:ea typeface="+mn-ea"/>
                        </a:rPr>
                        <a:t>成熟した技術</a:t>
                      </a:r>
                      <a:endParaRPr lang="en-US" altLang="ja-JP" sz="1400" dirty="0">
                        <a:latin typeface="+mn-ea"/>
                        <a:ea typeface="+mn-ea"/>
                      </a:endParaRPr>
                    </a:p>
                    <a:p>
                      <a:pPr>
                        <a:lnSpc>
                          <a:spcPct val="150000"/>
                        </a:lnSpc>
                        <a:buNone/>
                      </a:pPr>
                      <a:r>
                        <a:rPr lang="ja-JP" sz="1400" dirty="0">
                          <a:latin typeface="+mn-ea"/>
                          <a:ea typeface="+mn-ea"/>
                        </a:rPr>
                        <a:t>・既存PI Systemとの互換性が高い</a:t>
                      </a:r>
                      <a:endParaRPr lang="en-US" altLang="ja-JP" sz="1400" dirty="0">
                        <a:latin typeface="+mn-ea"/>
                        <a:ea typeface="+mn-ea"/>
                      </a:endParaRPr>
                    </a:p>
                    <a:p>
                      <a:pPr>
                        <a:lnSpc>
                          <a:spcPct val="150000"/>
                        </a:lnSpc>
                        <a:buNone/>
                      </a:pPr>
                      <a:r>
                        <a:rPr lang="ja-JP" sz="1400" dirty="0">
                          <a:latin typeface="+mn-ea"/>
                          <a:ea typeface="+mn-ea"/>
                        </a:rPr>
                        <a:t>・</a:t>
                      </a:r>
                      <a:r>
                        <a:rPr lang="ja-JP" altLang="en-US" sz="1400" dirty="0">
                          <a:latin typeface="+mn-ea"/>
                          <a:ea typeface="+mn-ea"/>
                        </a:rPr>
                        <a:t>初期設定が</a:t>
                      </a:r>
                      <a:r>
                        <a:rPr lang="ja-JP" sz="1400" dirty="0">
                          <a:latin typeface="+mn-ea"/>
                          <a:ea typeface="+mn-ea"/>
                        </a:rPr>
                        <a:t>シンプルで安定</a:t>
                      </a:r>
                      <a:endParaRPr lang="en-US" altLang="ja-JP" sz="1400" dirty="0">
                        <a:latin typeface="+mn-ea"/>
                        <a:ea typeface="+mn-ea"/>
                      </a:endParaRPr>
                    </a:p>
                    <a:p>
                      <a:pPr>
                        <a:lnSpc>
                          <a:spcPct val="150000"/>
                        </a:lnSpc>
                        <a:buNone/>
                      </a:pPr>
                      <a:r>
                        <a:rPr lang="ja-JP" sz="1400" dirty="0">
                          <a:latin typeface="+mn-ea"/>
                          <a:ea typeface="+mn-ea"/>
                        </a:rPr>
                        <a:t>・追加認証基盤が不要</a:t>
                      </a:r>
                    </a:p>
                  </a:txBody>
                  <a:tcPr marL="63063" marR="63063" marT="31531" marB="315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ja-JP" sz="1400" dirty="0">
                          <a:latin typeface="+mn-ea"/>
                          <a:ea typeface="+mn-ea"/>
                        </a:rPr>
                        <a:t>・Windows Domainへの依存度が高い</a:t>
                      </a:r>
                      <a:endParaRPr lang="en-US" altLang="ja-JP" sz="1400" dirty="0">
                        <a:latin typeface="+mn-ea"/>
                        <a:ea typeface="+mn-ea"/>
                      </a:endParaRPr>
                    </a:p>
                    <a:p>
                      <a:pPr>
                        <a:lnSpc>
                          <a:spcPct val="150000"/>
                        </a:lnSpc>
                        <a:buNone/>
                      </a:pPr>
                      <a:r>
                        <a:rPr lang="ja-JP" sz="1400" dirty="0">
                          <a:latin typeface="+mn-ea"/>
                          <a:ea typeface="+mn-ea"/>
                        </a:rPr>
                        <a:t>・異なるDomain間連携が複雑</a:t>
                      </a:r>
                      <a:endParaRPr lang="en-US" altLang="ja-JP" sz="1400" dirty="0">
                        <a:latin typeface="+mn-ea"/>
                        <a:ea typeface="+mn-ea"/>
                      </a:endParaRPr>
                    </a:p>
                    <a:p>
                      <a:pPr>
                        <a:lnSpc>
                          <a:spcPct val="150000"/>
                        </a:lnSpc>
                        <a:buNone/>
                      </a:pPr>
                      <a:r>
                        <a:rPr lang="ja-JP" sz="1400" b="1" dirty="0">
                          <a:latin typeface="+mn-ea"/>
                          <a:ea typeface="+mn-ea"/>
                        </a:rPr>
                        <a:t>・</a:t>
                      </a:r>
                      <a:r>
                        <a:rPr lang="ja-JP" sz="1400" dirty="0">
                          <a:latin typeface="+mn-ea"/>
                          <a:ea typeface="+mn-ea"/>
                        </a:rPr>
                        <a:t>DMZ、</a:t>
                      </a:r>
                      <a:r>
                        <a:rPr lang="ja-JP" altLang="en-US" sz="1400" dirty="0">
                          <a:latin typeface="+mn-ea"/>
                          <a:ea typeface="+mn-ea"/>
                        </a:rPr>
                        <a:t>クラウド</a:t>
                      </a:r>
                      <a:r>
                        <a:rPr lang="ja-JP" sz="1400" dirty="0">
                          <a:latin typeface="+mn-ea"/>
                          <a:ea typeface="+mn-ea"/>
                        </a:rPr>
                        <a:t>環境との相性が低い</a:t>
                      </a:r>
                      <a:endParaRPr lang="en-US" altLang="ja-JP" sz="1400" dirty="0">
                        <a:latin typeface="+mn-ea"/>
                        <a:ea typeface="+mn-ea"/>
                      </a:endParaRPr>
                    </a:p>
                    <a:p>
                      <a:pPr>
                        <a:lnSpc>
                          <a:spcPct val="100000"/>
                        </a:lnSpc>
                        <a:spcBef>
                          <a:spcPts val="600"/>
                        </a:spcBef>
                        <a:buNone/>
                      </a:pPr>
                      <a:r>
                        <a:rPr lang="ja-JP" sz="1400" dirty="0">
                          <a:latin typeface="+mn-ea"/>
                          <a:ea typeface="+mn-ea"/>
                        </a:rPr>
                        <a:t>・MFAや</a:t>
                      </a:r>
                      <a:r>
                        <a:rPr lang="ja-JP" altLang="en-US" sz="1400" dirty="0">
                          <a:latin typeface="+mn-ea"/>
                          <a:ea typeface="+mn-ea"/>
                        </a:rPr>
                        <a:t>条件付きアクセス</a:t>
                      </a:r>
                      <a:r>
                        <a:rPr lang="ja-JP" sz="1400" dirty="0">
                          <a:latin typeface="+mn-ea"/>
                          <a:ea typeface="+mn-ea"/>
                        </a:rPr>
                        <a:t>など</a:t>
                      </a:r>
                      <a:r>
                        <a:rPr lang="ja-JP" altLang="en-US" sz="1400" dirty="0">
                          <a:latin typeface="+mn-ea"/>
                          <a:ea typeface="+mn-ea"/>
                        </a:rPr>
                        <a:t>最新セキュリティ</a:t>
                      </a:r>
                      <a:r>
                        <a:rPr lang="ja-JP" sz="1400" dirty="0">
                          <a:latin typeface="+mn-ea"/>
                          <a:ea typeface="+mn-ea"/>
                        </a:rPr>
                        <a:t>機能は追加構成が必要</a:t>
                      </a:r>
                      <a:endParaRPr lang="en-US" altLang="ja-JP" sz="1400" dirty="0">
                        <a:latin typeface="+mn-ea"/>
                        <a:ea typeface="+mn-ea"/>
                      </a:endParaRPr>
                    </a:p>
                    <a:p>
                      <a:pPr>
                        <a:lnSpc>
                          <a:spcPct val="150000"/>
                        </a:lnSpc>
                        <a:buNone/>
                      </a:pPr>
                      <a:r>
                        <a:rPr lang="ja-JP" sz="1400" dirty="0">
                          <a:latin typeface="+mn-ea"/>
                          <a:ea typeface="+mn-ea"/>
                        </a:rPr>
                        <a:t>・外部組織とのID連携が困難</a:t>
                      </a:r>
                    </a:p>
                  </a:txBody>
                  <a:tcPr marL="63063" marR="63063" marT="31531" marB="315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ja-JP" sz="1400" dirty="0">
                          <a:latin typeface="+mn-ea"/>
                          <a:ea typeface="+mn-ea"/>
                        </a:rPr>
                        <a:t>・</a:t>
                      </a:r>
                      <a:r>
                        <a:rPr lang="ja-JP" altLang="en-US" sz="1400" dirty="0">
                          <a:latin typeface="+mn-ea"/>
                          <a:ea typeface="+mn-ea"/>
                        </a:rPr>
                        <a:t>全</a:t>
                      </a:r>
                      <a:r>
                        <a:rPr lang="ja-JP" sz="1400" dirty="0">
                          <a:latin typeface="+mn-ea"/>
                          <a:ea typeface="+mn-ea"/>
                        </a:rPr>
                        <a:t>Windows Domain</a:t>
                      </a:r>
                      <a:endParaRPr lang="en-US" altLang="ja-JP" sz="1400" dirty="0">
                        <a:latin typeface="+mn-ea"/>
                        <a:ea typeface="+mn-ea"/>
                      </a:endParaRPr>
                    </a:p>
                    <a:p>
                      <a:pPr>
                        <a:lnSpc>
                          <a:spcPct val="150000"/>
                        </a:lnSpc>
                        <a:buNone/>
                      </a:pPr>
                      <a:r>
                        <a:rPr lang="ja-JP" sz="1400" dirty="0">
                          <a:latin typeface="+mn-ea"/>
                          <a:ea typeface="+mn-ea"/>
                        </a:rPr>
                        <a:t>・発電所など</a:t>
                      </a:r>
                      <a:r>
                        <a:rPr lang="ja-JP" altLang="en-US" sz="1400" dirty="0">
                          <a:latin typeface="+mn-ea"/>
                          <a:ea typeface="+mn-ea"/>
                        </a:rPr>
                        <a:t>内部</a:t>
                      </a:r>
                      <a:r>
                        <a:rPr lang="ja-JP" sz="1400" dirty="0">
                          <a:latin typeface="+mn-ea"/>
                          <a:ea typeface="+mn-ea"/>
                        </a:rPr>
                        <a:t>OT環境</a:t>
                      </a:r>
                      <a:endParaRPr lang="en-US" altLang="ja-JP" sz="1400" dirty="0">
                        <a:latin typeface="+mn-ea"/>
                        <a:ea typeface="+mn-ea"/>
                      </a:endParaRPr>
                    </a:p>
                    <a:p>
                      <a:pPr>
                        <a:lnSpc>
                          <a:spcPct val="150000"/>
                        </a:lnSpc>
                        <a:buNone/>
                      </a:pPr>
                      <a:r>
                        <a:rPr lang="ja-JP" sz="1400" dirty="0">
                          <a:latin typeface="+mn-ea"/>
                          <a:ea typeface="+mn-ea"/>
                        </a:rPr>
                        <a:t>・既存PI Systemを継続利用する</a:t>
                      </a:r>
                      <a:endParaRPr lang="en-US" altLang="ja-JP" sz="1400" dirty="0">
                        <a:latin typeface="+mn-ea"/>
                        <a:ea typeface="+mn-ea"/>
                      </a:endParaRPr>
                    </a:p>
                    <a:p>
                      <a:pPr>
                        <a:lnSpc>
                          <a:spcPct val="150000"/>
                        </a:lnSpc>
                        <a:buNone/>
                      </a:pPr>
                      <a:endParaRPr lang="en-US" altLang="ja-JP" sz="1400" dirty="0">
                        <a:latin typeface="+mn-ea"/>
                        <a:ea typeface="+mn-ea"/>
                      </a:endParaRPr>
                    </a:p>
                    <a:p>
                      <a:pPr>
                        <a:lnSpc>
                          <a:spcPct val="150000"/>
                        </a:lnSpc>
                        <a:buNone/>
                      </a:pPr>
                      <a:endParaRPr lang="en-US" altLang="ja-JP" sz="1400" dirty="0">
                        <a:latin typeface="+mn-ea"/>
                        <a:ea typeface="+mn-ea"/>
                      </a:endParaRPr>
                    </a:p>
                    <a:p>
                      <a:pPr>
                        <a:lnSpc>
                          <a:spcPct val="150000"/>
                        </a:lnSpc>
                        <a:buNone/>
                      </a:pPr>
                      <a:endParaRPr lang="ja-JP" sz="1400" dirty="0">
                        <a:latin typeface="+mn-ea"/>
                        <a:ea typeface="+mn-ea"/>
                      </a:endParaRPr>
                    </a:p>
                  </a:txBody>
                  <a:tcPr marL="63063" marR="63063" marT="31531" marB="315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3837640"/>
                  </a:ext>
                </a:extLst>
              </a:tr>
              <a:tr h="2439477">
                <a:tc>
                  <a:txBody>
                    <a:bodyPr/>
                    <a:lstStyle/>
                    <a:p>
                      <a:pPr>
                        <a:buNone/>
                      </a:pPr>
                      <a:r>
                        <a:rPr lang="ja-JP" sz="1400" b="1" dirty="0">
                          <a:latin typeface="+mn-ea"/>
                          <a:ea typeface="+mn-ea"/>
                        </a:rPr>
                        <a:t>OIDC認証</a:t>
                      </a:r>
                      <a:endParaRPr lang="en-US" altLang="ja-JP" sz="1400" b="1" dirty="0">
                        <a:latin typeface="+mn-ea"/>
                        <a:ea typeface="+mn-ea"/>
                      </a:endParaRPr>
                    </a:p>
                    <a:p>
                      <a:pPr>
                        <a:buNone/>
                      </a:pPr>
                      <a:r>
                        <a:rPr lang="ja-JP" sz="1400" b="1" dirty="0">
                          <a:latin typeface="+mn-ea"/>
                          <a:ea typeface="+mn-ea"/>
                        </a:rPr>
                        <a:t>（Entra ID等）</a:t>
                      </a:r>
                      <a:endParaRPr lang="ja-JP" sz="1400" dirty="0">
                        <a:latin typeface="+mn-ea"/>
                        <a:ea typeface="+mn-ea"/>
                      </a:endParaRPr>
                    </a:p>
                  </a:txBody>
                  <a:tcPr marL="63063" marR="63063" marT="31531" marB="315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buNone/>
                      </a:pPr>
                      <a:r>
                        <a:rPr lang="ja-JP" sz="1400" b="1" dirty="0">
                          <a:latin typeface="+mn-ea"/>
                          <a:ea typeface="+mn-ea"/>
                        </a:rPr>
                        <a:t>・</a:t>
                      </a:r>
                      <a:r>
                        <a:rPr lang="ja-JP" sz="1400" dirty="0">
                          <a:latin typeface="+mn-ea"/>
                          <a:ea typeface="+mn-ea"/>
                        </a:rPr>
                        <a:t>Microsoft</a:t>
                      </a:r>
                      <a:r>
                        <a:rPr lang="ja-JP" altLang="en-US" sz="1400" dirty="0">
                          <a:latin typeface="+mn-ea"/>
                          <a:ea typeface="+mn-ea"/>
                        </a:rPr>
                        <a:t> </a:t>
                      </a:r>
                      <a:r>
                        <a:rPr lang="ja-JP" sz="1400" dirty="0">
                          <a:latin typeface="+mn-ea"/>
                          <a:ea typeface="+mn-ea"/>
                        </a:rPr>
                        <a:t>365との統合SSOが可能</a:t>
                      </a:r>
                      <a:endParaRPr lang="en-US" altLang="ja-JP" sz="1400" dirty="0">
                        <a:latin typeface="+mn-ea"/>
                        <a:ea typeface="+mn-ea"/>
                      </a:endParaRPr>
                    </a:p>
                    <a:p>
                      <a:pPr>
                        <a:lnSpc>
                          <a:spcPct val="150000"/>
                        </a:lnSpc>
                        <a:spcAft>
                          <a:spcPts val="600"/>
                        </a:spcAft>
                        <a:buNone/>
                      </a:pPr>
                      <a:r>
                        <a:rPr lang="ja-JP" sz="1400" b="1" dirty="0">
                          <a:latin typeface="+mn-ea"/>
                          <a:ea typeface="+mn-ea"/>
                        </a:rPr>
                        <a:t>・</a:t>
                      </a:r>
                      <a:r>
                        <a:rPr lang="ja-JP" altLang="en-US" sz="1400" dirty="0">
                          <a:latin typeface="+mn-ea"/>
                          <a:ea typeface="+mn-ea"/>
                        </a:rPr>
                        <a:t>クラウド</a:t>
                      </a:r>
                      <a:r>
                        <a:rPr lang="ja-JP" sz="1400" dirty="0">
                          <a:latin typeface="+mn-ea"/>
                          <a:ea typeface="+mn-ea"/>
                        </a:rPr>
                        <a:t>環境に最適</a:t>
                      </a:r>
                      <a:endParaRPr lang="en-US" altLang="ja-JP" sz="1400" dirty="0">
                        <a:latin typeface="+mn-ea"/>
                        <a:ea typeface="+mn-ea"/>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ja-JP" sz="1400" dirty="0">
                          <a:latin typeface="+mn-ea"/>
                          <a:ea typeface="+mn-ea"/>
                        </a:rPr>
                        <a:t>・MFA</a:t>
                      </a:r>
                      <a:r>
                        <a:rPr lang="en-US" altLang="ja-JP" sz="1400" dirty="0">
                          <a:latin typeface="+mn-ea"/>
                          <a:ea typeface="+mn-ea"/>
                        </a:rPr>
                        <a:t>/</a:t>
                      </a:r>
                      <a:r>
                        <a:rPr lang="ja-JP" altLang="en-US" sz="1400" dirty="0">
                          <a:latin typeface="+mn-ea"/>
                          <a:ea typeface="+mn-ea"/>
                        </a:rPr>
                        <a:t>条件付きアクセスが準拠</a:t>
                      </a:r>
                      <a:endParaRPr lang="en-US" altLang="ja-JP" sz="1400" dirty="0">
                        <a:latin typeface="+mn-ea"/>
                        <a:ea typeface="+mn-ea"/>
                      </a:endParaRPr>
                    </a:p>
                    <a:p>
                      <a:pPr>
                        <a:lnSpc>
                          <a:spcPct val="100000"/>
                        </a:lnSpc>
                        <a:spcAft>
                          <a:spcPts val="600"/>
                        </a:spcAft>
                        <a:buNone/>
                      </a:pPr>
                      <a:r>
                        <a:rPr lang="ja-JP" sz="1400" dirty="0">
                          <a:latin typeface="+mn-ea"/>
                          <a:ea typeface="+mn-ea"/>
                        </a:rPr>
                        <a:t>・異なるDomain</a:t>
                      </a:r>
                      <a:r>
                        <a:rPr lang="en-US" altLang="ja-JP" sz="1400" dirty="0">
                          <a:latin typeface="+mn-ea"/>
                          <a:ea typeface="+mn-ea"/>
                        </a:rPr>
                        <a:t>/</a:t>
                      </a:r>
                      <a:r>
                        <a:rPr lang="ja-JP" sz="1400" dirty="0">
                          <a:latin typeface="+mn-ea"/>
                          <a:ea typeface="+mn-ea"/>
                        </a:rPr>
                        <a:t>組織間連携が容易</a:t>
                      </a:r>
                      <a:endParaRPr lang="en-US" altLang="ja-JP" sz="1400" dirty="0">
                        <a:latin typeface="+mn-ea"/>
                        <a:ea typeface="+mn-ea"/>
                      </a:endParaRPr>
                    </a:p>
                    <a:p>
                      <a:pPr>
                        <a:lnSpc>
                          <a:spcPct val="100000"/>
                        </a:lnSpc>
                        <a:buNone/>
                      </a:pPr>
                      <a:r>
                        <a:rPr lang="ja-JP" sz="1400" dirty="0">
                          <a:latin typeface="+mn-ea"/>
                          <a:ea typeface="+mn-ea"/>
                        </a:rPr>
                        <a:t>・将来的な拡張性が高い</a:t>
                      </a:r>
                      <a:endParaRPr lang="en-US" altLang="ja-JP" sz="1400" dirty="0">
                        <a:latin typeface="+mn-ea"/>
                        <a:ea typeface="+mn-ea"/>
                      </a:endParaRPr>
                    </a:p>
                    <a:p>
                      <a:pPr>
                        <a:lnSpc>
                          <a:spcPct val="150000"/>
                        </a:lnSpc>
                        <a:buNone/>
                      </a:pPr>
                      <a:r>
                        <a:rPr lang="ja-JP" altLang="ja-JP" sz="1400" dirty="0">
                          <a:latin typeface="+mn-ea"/>
                          <a:ea typeface="+mn-ea"/>
                        </a:rPr>
                        <a:t>・Web/APIアクセスに適している</a:t>
                      </a:r>
                      <a:endParaRPr lang="ja-JP" sz="1400" dirty="0">
                        <a:latin typeface="+mn-ea"/>
                        <a:ea typeface="+mn-ea"/>
                      </a:endParaRPr>
                    </a:p>
                  </a:txBody>
                  <a:tcPr marL="63063" marR="63063" marT="31531" marB="315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ja-JP" sz="1400" dirty="0">
                          <a:latin typeface="+mn-ea"/>
                          <a:ea typeface="+mn-ea"/>
                        </a:rPr>
                        <a:t>・初期設定がADより複雑</a:t>
                      </a:r>
                      <a:endParaRPr lang="en-US" altLang="ja-JP" sz="1400" dirty="0">
                        <a:latin typeface="+mn-ea"/>
                        <a:ea typeface="+mn-ea"/>
                      </a:endParaRPr>
                    </a:p>
                    <a:p>
                      <a:pPr>
                        <a:lnSpc>
                          <a:spcPct val="150000"/>
                        </a:lnSpc>
                        <a:buNone/>
                      </a:pPr>
                      <a:r>
                        <a:rPr lang="ja-JP" sz="1400" dirty="0">
                          <a:latin typeface="+mn-ea"/>
                          <a:ea typeface="+mn-ea"/>
                        </a:rPr>
                        <a:t>・</a:t>
                      </a:r>
                      <a:r>
                        <a:rPr lang="en-US" altLang="ja-JP" sz="1400" dirty="0">
                          <a:latin typeface="+mn-ea"/>
                          <a:ea typeface="+mn-ea"/>
                        </a:rPr>
                        <a:t>IdP</a:t>
                      </a:r>
                      <a:r>
                        <a:rPr lang="ja-JP" altLang="en-US" sz="1400" dirty="0">
                          <a:latin typeface="+mn-ea"/>
                          <a:ea typeface="+mn-ea"/>
                        </a:rPr>
                        <a:t>と</a:t>
                      </a:r>
                      <a:r>
                        <a:rPr lang="ja-JP" sz="1400" dirty="0">
                          <a:latin typeface="+mn-ea"/>
                          <a:ea typeface="+mn-ea"/>
                        </a:rPr>
                        <a:t>Claim Mapping等の設計が必要</a:t>
                      </a:r>
                      <a:endParaRPr lang="en-US" altLang="ja-JP" sz="1400" dirty="0">
                        <a:latin typeface="+mn-ea"/>
                        <a:ea typeface="+mn-ea"/>
                      </a:endParaRPr>
                    </a:p>
                    <a:p>
                      <a:pPr>
                        <a:lnSpc>
                          <a:spcPct val="150000"/>
                        </a:lnSpc>
                        <a:buNone/>
                      </a:pPr>
                      <a:r>
                        <a:rPr lang="ja-JP" sz="1400" dirty="0">
                          <a:latin typeface="+mn-ea"/>
                          <a:ea typeface="+mn-ea"/>
                        </a:rPr>
                        <a:t>・外部IdP利用時は互換性確認が必要</a:t>
                      </a:r>
                      <a:endParaRPr lang="en-US" altLang="ja-JP" sz="1400" dirty="0">
                        <a:latin typeface="+mn-ea"/>
                        <a:ea typeface="+mn-ea"/>
                      </a:endParaRPr>
                    </a:p>
                    <a:p>
                      <a:pPr>
                        <a:lnSpc>
                          <a:spcPct val="150000"/>
                        </a:lnSpc>
                        <a:buNone/>
                      </a:pPr>
                      <a:r>
                        <a:rPr lang="ja-JP" sz="1400" dirty="0">
                          <a:latin typeface="+mn-ea"/>
                          <a:ea typeface="+mn-ea"/>
                        </a:rPr>
                        <a:t>・I</a:t>
                      </a:r>
                      <a:r>
                        <a:rPr lang="en-US" altLang="ja-JP" sz="1400" dirty="0" err="1">
                          <a:latin typeface="+mn-ea"/>
                          <a:ea typeface="+mn-ea"/>
                        </a:rPr>
                        <a:t>dP</a:t>
                      </a:r>
                      <a:r>
                        <a:rPr lang="ja-JP" sz="1400" dirty="0">
                          <a:latin typeface="+mn-ea"/>
                          <a:ea typeface="+mn-ea"/>
                        </a:rPr>
                        <a:t>の運用が必要</a:t>
                      </a:r>
                      <a:endParaRPr lang="en-US" altLang="ja-JP" sz="1400" dirty="0">
                        <a:latin typeface="+mn-ea"/>
                        <a:ea typeface="+mn-ea"/>
                      </a:endParaRPr>
                    </a:p>
                    <a:p>
                      <a:pPr>
                        <a:lnSpc>
                          <a:spcPct val="150000"/>
                        </a:lnSpc>
                        <a:buNone/>
                      </a:pPr>
                      <a:endParaRPr lang="en-US" altLang="ja-JP" sz="1400" dirty="0">
                        <a:latin typeface="+mn-ea"/>
                        <a:ea typeface="+mn-ea"/>
                      </a:endParaRPr>
                    </a:p>
                    <a:p>
                      <a:pPr>
                        <a:lnSpc>
                          <a:spcPct val="150000"/>
                        </a:lnSpc>
                        <a:buNone/>
                      </a:pPr>
                      <a:endParaRPr lang="ja-JP" sz="1400" dirty="0">
                        <a:latin typeface="+mn-ea"/>
                        <a:ea typeface="+mn-ea"/>
                      </a:endParaRPr>
                    </a:p>
                  </a:txBody>
                  <a:tcPr marL="63063" marR="63063" marT="31531" marB="315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50000"/>
                        </a:lnSpc>
                        <a:buNone/>
                      </a:pPr>
                      <a:r>
                        <a:rPr lang="ja-JP" sz="1400" dirty="0">
                          <a:latin typeface="+mn-ea"/>
                          <a:ea typeface="+mn-ea"/>
                        </a:rPr>
                        <a:t>・Azure</a:t>
                      </a:r>
                      <a:r>
                        <a:rPr lang="ja-JP" altLang="en-US" sz="1400" dirty="0">
                          <a:latin typeface="+mn-ea"/>
                          <a:ea typeface="+mn-ea"/>
                        </a:rPr>
                        <a:t>などクラウド</a:t>
                      </a:r>
                      <a:endParaRPr lang="en-US" altLang="ja-JP" sz="1400" dirty="0">
                        <a:latin typeface="+mn-ea"/>
                        <a:ea typeface="+mn-ea"/>
                      </a:endParaRPr>
                    </a:p>
                    <a:p>
                      <a:pPr>
                        <a:lnSpc>
                          <a:spcPct val="150000"/>
                        </a:lnSpc>
                        <a:buNone/>
                      </a:pPr>
                      <a:r>
                        <a:rPr lang="ja-JP" sz="1400" dirty="0">
                          <a:latin typeface="+mn-ea"/>
                          <a:ea typeface="+mn-ea"/>
                        </a:rPr>
                        <a:t>・複数拠点展開</a:t>
                      </a:r>
                      <a:endParaRPr lang="en-US" altLang="ja-JP" sz="1400" dirty="0">
                        <a:latin typeface="+mn-ea"/>
                        <a:ea typeface="+mn-ea"/>
                      </a:endParaRPr>
                    </a:p>
                    <a:p>
                      <a:pPr>
                        <a:lnSpc>
                          <a:spcPct val="150000"/>
                        </a:lnSpc>
                        <a:buNone/>
                      </a:pPr>
                      <a:r>
                        <a:rPr lang="ja-JP" sz="1400" dirty="0">
                          <a:latin typeface="+mn-ea"/>
                          <a:ea typeface="+mn-ea"/>
                        </a:rPr>
                        <a:t>・本社と拠点間連携</a:t>
                      </a:r>
                      <a:endParaRPr lang="en-US" altLang="ja-JP" sz="1400" dirty="0">
                        <a:latin typeface="+mn-ea"/>
                        <a:ea typeface="+mn-ea"/>
                      </a:endParaRPr>
                    </a:p>
                    <a:p>
                      <a:pPr>
                        <a:lnSpc>
                          <a:spcPct val="150000"/>
                        </a:lnSpc>
                        <a:buNone/>
                      </a:pPr>
                      <a:r>
                        <a:rPr lang="ja-JP" sz="1400" dirty="0">
                          <a:latin typeface="+mn-ea"/>
                          <a:ea typeface="+mn-ea"/>
                        </a:rPr>
                        <a:t>・DMZ経由アクセス</a:t>
                      </a:r>
                      <a:endParaRPr lang="en-US" altLang="ja-JP" sz="1400" dirty="0">
                        <a:latin typeface="+mn-ea"/>
                        <a:ea typeface="+mn-ea"/>
                      </a:endParaRPr>
                    </a:p>
                    <a:p>
                      <a:pPr>
                        <a:lnSpc>
                          <a:spcPct val="150000"/>
                        </a:lnSpc>
                        <a:buNone/>
                      </a:pPr>
                      <a:r>
                        <a:rPr lang="ja-JP" sz="1400" dirty="0">
                          <a:latin typeface="+mn-ea"/>
                          <a:ea typeface="+mn-ea"/>
                        </a:rPr>
                        <a:t>・企業統合認証基盤を利用する</a:t>
                      </a:r>
                      <a:endParaRPr lang="en-US" altLang="ja-JP" sz="1400" dirty="0">
                        <a:latin typeface="+mn-ea"/>
                        <a:ea typeface="+mn-ea"/>
                      </a:endParaRPr>
                    </a:p>
                    <a:p>
                      <a:pPr>
                        <a:lnSpc>
                          <a:spcPct val="150000"/>
                        </a:lnSpc>
                        <a:buNone/>
                      </a:pPr>
                      <a:endParaRPr lang="ja-JP" sz="1400" dirty="0">
                        <a:latin typeface="+mn-ea"/>
                        <a:ea typeface="+mn-ea"/>
                      </a:endParaRPr>
                    </a:p>
                  </a:txBody>
                  <a:tcPr marL="63063" marR="63063" marT="31531" marB="315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2715936"/>
                  </a:ext>
                </a:extLst>
              </a:tr>
            </a:tbl>
          </a:graphicData>
        </a:graphic>
      </p:graphicFrame>
      <p:sp>
        <p:nvSpPr>
          <p:cNvPr id="3" name="テキスト ボックス 2">
            <a:extLst>
              <a:ext uri="{FF2B5EF4-FFF2-40B4-BE49-F238E27FC236}">
                <a16:creationId xmlns:a16="http://schemas.microsoft.com/office/drawing/2014/main" id="{76FEED21-B83E-16C4-497F-FBFF748A41C8}"/>
              </a:ext>
            </a:extLst>
          </p:cNvPr>
          <p:cNvSpPr txBox="1"/>
          <p:nvPr/>
        </p:nvSpPr>
        <p:spPr>
          <a:xfrm>
            <a:off x="5163313" y="4894684"/>
            <a:ext cx="3505199" cy="276999"/>
          </a:xfrm>
          <a:prstGeom prst="rect">
            <a:avLst/>
          </a:prstGeom>
          <a:noFill/>
        </p:spPr>
        <p:txBody>
          <a:bodyPr wrap="square">
            <a:spAutoFit/>
          </a:bodyPr>
          <a:lstStyle/>
          <a:p>
            <a:pPr>
              <a:buNone/>
            </a:pPr>
            <a:r>
              <a:rPr lang="en-US" altLang="ja-JP" sz="1200" dirty="0">
                <a:solidFill>
                  <a:schemeClr val="tx1">
                    <a:lumMod val="65000"/>
                    <a:lumOff val="35000"/>
                  </a:schemeClr>
                </a:solidFill>
                <a:latin typeface="+mn-ea"/>
              </a:rPr>
              <a:t>※IdP</a:t>
            </a:r>
            <a:r>
              <a:rPr lang="ja-JP" altLang="en-US" sz="1200" dirty="0">
                <a:solidFill>
                  <a:schemeClr val="tx1">
                    <a:lumMod val="65000"/>
                    <a:lumOff val="35000"/>
                  </a:schemeClr>
                </a:solidFill>
                <a:latin typeface="+mn-ea"/>
              </a:rPr>
              <a:t>は</a:t>
            </a:r>
            <a:r>
              <a:rPr lang="en-US" altLang="ja-JP" sz="1200" dirty="0">
                <a:solidFill>
                  <a:schemeClr val="tx1">
                    <a:lumMod val="65000"/>
                    <a:lumOff val="35000"/>
                  </a:schemeClr>
                </a:solidFill>
                <a:latin typeface="+mn-ea"/>
              </a:rPr>
              <a:t>:Identify Provider</a:t>
            </a:r>
            <a:r>
              <a:rPr lang="ja-JP" altLang="en-US" sz="1200" dirty="0">
                <a:solidFill>
                  <a:schemeClr val="tx1">
                    <a:lumMod val="65000"/>
                    <a:lumOff val="35000"/>
                  </a:schemeClr>
                </a:solidFill>
                <a:latin typeface="+mn-ea"/>
              </a:rPr>
              <a:t>で認証サービス提供者</a:t>
            </a:r>
            <a:endParaRPr lang="ja-JP" altLang="ja-JP" sz="1200" dirty="0">
              <a:solidFill>
                <a:schemeClr val="tx1">
                  <a:lumMod val="65000"/>
                  <a:lumOff val="35000"/>
                </a:schemeClr>
              </a:solidFill>
              <a:latin typeface="+mn-ea"/>
            </a:endParaRPr>
          </a:p>
        </p:txBody>
      </p:sp>
      <p:sp>
        <p:nvSpPr>
          <p:cNvPr id="4" name="テキスト ボックス 3">
            <a:extLst>
              <a:ext uri="{FF2B5EF4-FFF2-40B4-BE49-F238E27FC236}">
                <a16:creationId xmlns:a16="http://schemas.microsoft.com/office/drawing/2014/main" id="{EBB251EC-FC7D-4A5F-E15E-533F3F25B2E4}"/>
              </a:ext>
            </a:extLst>
          </p:cNvPr>
          <p:cNvSpPr txBox="1"/>
          <p:nvPr/>
        </p:nvSpPr>
        <p:spPr>
          <a:xfrm>
            <a:off x="373871" y="5556322"/>
            <a:ext cx="11444258" cy="954107"/>
          </a:xfrm>
          <a:prstGeom prst="rect">
            <a:avLst/>
          </a:prstGeom>
          <a:noFill/>
        </p:spPr>
        <p:txBody>
          <a:bodyPr wrap="square">
            <a:spAutoFit/>
          </a:bodyPr>
          <a:lstStyle/>
          <a:p>
            <a:pPr>
              <a:buNone/>
            </a:pPr>
            <a:r>
              <a:rPr lang="ja-JP" altLang="en-US" sz="1400" b="1" dirty="0"/>
              <a:t>参照資料：</a:t>
            </a:r>
            <a:endParaRPr lang="en-US" altLang="ja-JP" sz="1400" b="1" dirty="0"/>
          </a:p>
          <a:p>
            <a:pPr>
              <a:buNone/>
            </a:pPr>
            <a:r>
              <a:rPr lang="ja-JP" altLang="en-US" sz="1400" dirty="0">
                <a:hlinkClick r:id="rId3">
                  <a:extLst>
                    <a:ext uri="{A12FA001-AC4F-418D-AE19-62706E023703}">
                      <ahyp:hlinkClr xmlns:ahyp="http://schemas.microsoft.com/office/drawing/2018/hyperlinkcolor" val="tx"/>
                    </a:ext>
                  </a:extLst>
                </a:hlinkClick>
              </a:rPr>
              <a:t>①</a:t>
            </a:r>
            <a:r>
              <a:rPr lang="en-US" altLang="ja-JP" sz="1400" dirty="0">
                <a:hlinkClick r:id="rId3">
                  <a:extLst>
                    <a:ext uri="{A12FA001-AC4F-418D-AE19-62706E023703}">
                      <ahyp:hlinkClr xmlns:ahyp="http://schemas.microsoft.com/office/drawing/2018/hyperlinkcolor" val="tx"/>
                    </a:ext>
                  </a:extLst>
                </a:hlinkClick>
              </a:rPr>
              <a:t>Configuring Modern Claims-based Authentication with OpenID Connect across the AVEVA PI System</a:t>
            </a:r>
            <a:endParaRPr lang="en-US" altLang="ja-JP" sz="1400" dirty="0"/>
          </a:p>
          <a:p>
            <a:pPr>
              <a:buNone/>
            </a:pPr>
            <a:r>
              <a:rPr lang="ja-JP" altLang="en-US" sz="1400" dirty="0">
                <a:hlinkClick r:id="rId4">
                  <a:extLst>
                    <a:ext uri="{A12FA001-AC4F-418D-AE19-62706E023703}">
                      <ahyp:hlinkClr xmlns:ahyp="http://schemas.microsoft.com/office/drawing/2018/hyperlinkcolor" val="tx"/>
                    </a:ext>
                  </a:extLst>
                </a:hlinkClick>
              </a:rPr>
              <a:t>②</a:t>
            </a:r>
            <a:r>
              <a:rPr lang="en-US" altLang="ja-JP" sz="1400" dirty="0">
                <a:hlinkClick r:id="rId5">
                  <a:extLst>
                    <a:ext uri="{A12FA001-AC4F-418D-AE19-62706E023703}">
                      <ahyp:hlinkClr xmlns:ahyp="http://schemas.microsoft.com/office/drawing/2018/hyperlinkcolor" val="tx"/>
                    </a:ext>
                  </a:extLst>
                </a:hlinkClick>
              </a:rPr>
              <a:t>Implementing claims authentication in AVEVA™ PI System</a:t>
            </a:r>
            <a:endParaRPr lang="en-US" altLang="ja-JP" sz="1400" dirty="0"/>
          </a:p>
          <a:p>
            <a:pPr>
              <a:buNone/>
            </a:pPr>
            <a:r>
              <a:rPr lang="ja-JP" altLang="en-US" sz="1400" dirty="0"/>
              <a:t>③</a:t>
            </a:r>
            <a:r>
              <a:rPr lang="en-US" altLang="ja-JP" sz="1400" dirty="0">
                <a:hlinkClick r:id="rId6">
                  <a:extLst>
                    <a:ext uri="{A12FA001-AC4F-418D-AE19-62706E023703}">
                      <ahyp:hlinkClr xmlns:ahyp="http://schemas.microsoft.com/office/drawing/2018/hyperlinkcolor" val="tx"/>
                    </a:ext>
                  </a:extLst>
                </a:hlinkClick>
              </a:rPr>
              <a:t>Microsoft Entra ID authentication</a:t>
            </a:r>
            <a:endParaRPr lang="en-US" altLang="ja-JP" sz="1400" dirty="0"/>
          </a:p>
        </p:txBody>
      </p:sp>
    </p:spTree>
    <p:extLst>
      <p:ext uri="{BB962C8B-B14F-4D97-AF65-F5344CB8AC3E}">
        <p14:creationId xmlns:p14="http://schemas.microsoft.com/office/powerpoint/2010/main" val="125093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94B72BE-1B78-DE11-656E-6DBC77B35E76}"/>
              </a:ext>
            </a:extLst>
          </p:cNvPr>
          <p:cNvSpPr>
            <a:spLocks noGrp="1"/>
          </p:cNvSpPr>
          <p:nvPr>
            <p:ph type="body" sz="quarter" idx="16"/>
          </p:nvPr>
        </p:nvSpPr>
        <p:spPr/>
        <p:txBody>
          <a:bodyPr/>
          <a:lstStyle/>
          <a:p>
            <a:r>
              <a:rPr lang="en-US" altLang="ja-JP" dirty="0"/>
              <a:t>PI</a:t>
            </a:r>
            <a:r>
              <a:rPr lang="ja-JP" altLang="en-US" dirty="0"/>
              <a:t>認証系 </a:t>
            </a:r>
            <a:r>
              <a:rPr lang="en-US" altLang="ja-JP" dirty="0"/>
              <a:t>OIDC</a:t>
            </a:r>
            <a:r>
              <a:rPr lang="ja-JP" altLang="en-US" dirty="0"/>
              <a:t> </a:t>
            </a:r>
            <a:r>
              <a:rPr lang="en-US" altLang="ja-JP" dirty="0"/>
              <a:t>vs</a:t>
            </a:r>
            <a:r>
              <a:rPr lang="ja-JP" altLang="en-US" dirty="0"/>
              <a:t> </a:t>
            </a:r>
            <a:r>
              <a:rPr lang="en-US" altLang="ja-JP" dirty="0"/>
              <a:t>AD</a:t>
            </a:r>
            <a:r>
              <a:rPr lang="ja-JP" altLang="en-US" dirty="0"/>
              <a:t>（詳細比較）</a:t>
            </a:r>
          </a:p>
        </p:txBody>
      </p:sp>
      <p:graphicFrame>
        <p:nvGraphicFramePr>
          <p:cNvPr id="5" name="表 4">
            <a:extLst>
              <a:ext uri="{FF2B5EF4-FFF2-40B4-BE49-F238E27FC236}">
                <a16:creationId xmlns:a16="http://schemas.microsoft.com/office/drawing/2014/main" id="{CFC71D75-CC0B-8164-EDF4-DE1523F931DD}"/>
              </a:ext>
            </a:extLst>
          </p:cNvPr>
          <p:cNvGraphicFramePr>
            <a:graphicFrameLocks noGrp="1"/>
          </p:cNvGraphicFramePr>
          <p:nvPr>
            <p:extLst>
              <p:ext uri="{D42A27DB-BD31-4B8C-83A1-F6EECF244321}">
                <p14:modId xmlns:p14="http://schemas.microsoft.com/office/powerpoint/2010/main" val="3028915650"/>
              </p:ext>
            </p:extLst>
          </p:nvPr>
        </p:nvGraphicFramePr>
        <p:xfrm>
          <a:off x="398025" y="803229"/>
          <a:ext cx="11638408" cy="5599536"/>
        </p:xfrm>
        <a:graphic>
          <a:graphicData uri="http://schemas.openxmlformats.org/drawingml/2006/table">
            <a:tbl>
              <a:tblPr/>
              <a:tblGrid>
                <a:gridCol w="2046792">
                  <a:extLst>
                    <a:ext uri="{9D8B030D-6E8A-4147-A177-3AD203B41FA5}">
                      <a16:colId xmlns:a16="http://schemas.microsoft.com/office/drawing/2014/main" val="352481345"/>
                    </a:ext>
                  </a:extLst>
                </a:gridCol>
                <a:gridCol w="3572668">
                  <a:extLst>
                    <a:ext uri="{9D8B030D-6E8A-4147-A177-3AD203B41FA5}">
                      <a16:colId xmlns:a16="http://schemas.microsoft.com/office/drawing/2014/main" val="2397025950"/>
                    </a:ext>
                  </a:extLst>
                </a:gridCol>
                <a:gridCol w="3224251">
                  <a:extLst>
                    <a:ext uri="{9D8B030D-6E8A-4147-A177-3AD203B41FA5}">
                      <a16:colId xmlns:a16="http://schemas.microsoft.com/office/drawing/2014/main" val="1635976462"/>
                    </a:ext>
                  </a:extLst>
                </a:gridCol>
                <a:gridCol w="2794697">
                  <a:extLst>
                    <a:ext uri="{9D8B030D-6E8A-4147-A177-3AD203B41FA5}">
                      <a16:colId xmlns:a16="http://schemas.microsoft.com/office/drawing/2014/main" val="447327505"/>
                    </a:ext>
                  </a:extLst>
                </a:gridCol>
              </a:tblGrid>
              <a:tr h="320040">
                <a:tc>
                  <a:txBody>
                    <a:bodyPr/>
                    <a:lstStyle/>
                    <a:p>
                      <a:pPr>
                        <a:buNone/>
                      </a:pPr>
                      <a:r>
                        <a:rPr lang="ja-JP" sz="1200" b="1" dirty="0">
                          <a:latin typeface="+mn-ea"/>
                          <a:ea typeface="+mn-ea"/>
                        </a:rPr>
                        <a:t>比較項目</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E95D9"/>
                    </a:solidFill>
                  </a:tcPr>
                </a:tc>
                <a:tc>
                  <a:txBody>
                    <a:bodyPr/>
                    <a:lstStyle/>
                    <a:p>
                      <a:pPr>
                        <a:buNone/>
                      </a:pPr>
                      <a:r>
                        <a:rPr lang="ja-JP" sz="1200" b="1">
                          <a:latin typeface="+mn-ea"/>
                          <a:ea typeface="+mn-ea"/>
                        </a:rPr>
                        <a:t>Windows AD / Kerberos認証</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E95D9"/>
                    </a:solidFill>
                  </a:tcPr>
                </a:tc>
                <a:tc>
                  <a:txBody>
                    <a:bodyPr/>
                    <a:lstStyle/>
                    <a:p>
                      <a:pPr>
                        <a:buNone/>
                      </a:pPr>
                      <a:r>
                        <a:rPr lang="ja-JP" sz="1200" b="1">
                          <a:latin typeface="+mn-ea"/>
                          <a:ea typeface="+mn-ea"/>
                        </a:rPr>
                        <a:t>OIDC認証（Microsoft Entra ID等）</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E95D9"/>
                    </a:solidFill>
                  </a:tcPr>
                </a:tc>
                <a:tc>
                  <a:txBody>
                    <a:bodyPr/>
                    <a:lstStyle/>
                    <a:p>
                      <a:pPr>
                        <a:buNone/>
                      </a:pPr>
                      <a:r>
                        <a:rPr lang="ja-JP" sz="1200" b="1" dirty="0">
                          <a:latin typeface="+mn-ea"/>
                          <a:ea typeface="+mn-ea"/>
                        </a:rPr>
                        <a:t>評価</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E95D9"/>
                    </a:solidFill>
                  </a:tcPr>
                </a:tc>
                <a:extLst>
                  <a:ext uri="{0D108BD9-81ED-4DB2-BD59-A6C34878D82A}">
                    <a16:rowId xmlns:a16="http://schemas.microsoft.com/office/drawing/2014/main" val="2579944743"/>
                  </a:ext>
                </a:extLst>
              </a:tr>
              <a:tr h="348841">
                <a:tc>
                  <a:txBody>
                    <a:bodyPr/>
                    <a:lstStyle/>
                    <a:p>
                      <a:pPr>
                        <a:buNone/>
                      </a:pPr>
                      <a:r>
                        <a:rPr lang="ja-JP" sz="1100" b="1" dirty="0">
                          <a:latin typeface="+mn-ea"/>
                          <a:ea typeface="+mn-ea"/>
                        </a:rPr>
                        <a:t>認証方式</a:t>
                      </a:r>
                      <a:endParaRPr lang="ja-JP" sz="1100" dirty="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Windows </a:t>
                      </a:r>
                      <a:r>
                        <a:rPr lang="en-US" altLang="ja-JP" sz="1100" dirty="0">
                          <a:latin typeface="+mn-ea"/>
                          <a:ea typeface="+mn-ea"/>
                        </a:rPr>
                        <a:t>AD</a:t>
                      </a:r>
                      <a:r>
                        <a:rPr lang="ja-JP" sz="1100" dirty="0">
                          <a:latin typeface="+mn-ea"/>
                          <a:ea typeface="+mn-ea"/>
                        </a:rPr>
                        <a:t>、Kerberos、NTLMベース</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a:latin typeface="+mn-ea"/>
                          <a:ea typeface="+mn-ea"/>
                        </a:rPr>
                        <a:t>OpenID Connect（OAuth2 + JWT Tokenベース）</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OIDCは最新の標準認証方式</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84777561"/>
                  </a:ext>
                </a:extLst>
              </a:tr>
              <a:tr h="348841">
                <a:tc>
                  <a:txBody>
                    <a:bodyPr/>
                    <a:lstStyle/>
                    <a:p>
                      <a:pPr>
                        <a:buNone/>
                      </a:pPr>
                      <a:r>
                        <a:rPr lang="ja-JP" sz="1100" b="1" dirty="0">
                          <a:latin typeface="+mn-ea"/>
                          <a:ea typeface="+mn-ea"/>
                        </a:rPr>
                        <a:t>ユーザー管理基盤</a:t>
                      </a:r>
                      <a:endParaRPr lang="ja-JP" sz="1100" dirty="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Windows </a:t>
                      </a:r>
                      <a:r>
                        <a:rPr lang="en-US" altLang="ja-JP" sz="1100" dirty="0">
                          <a:latin typeface="+mn-ea"/>
                          <a:ea typeface="+mn-ea"/>
                        </a:rPr>
                        <a:t>AD</a:t>
                      </a:r>
                      <a:endParaRPr lang="ja-JP" sz="1100" dirty="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Microsoft Entra ID、Okta等のIdentity Provider</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OIDCは柔軟性が高い</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15322684"/>
                  </a:ext>
                </a:extLst>
              </a:tr>
              <a:tr h="187068">
                <a:tc>
                  <a:txBody>
                    <a:bodyPr/>
                    <a:lstStyle/>
                    <a:p>
                      <a:pPr>
                        <a:buNone/>
                      </a:pPr>
                      <a:r>
                        <a:rPr lang="ja-JP" sz="1100" b="1">
                          <a:latin typeface="+mn-ea"/>
                          <a:ea typeface="+mn-ea"/>
                        </a:rPr>
                        <a:t>PI Server対応OS</a:t>
                      </a:r>
                      <a:endParaRPr lang="ja-JP" sz="110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Windows Server</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Windows Server</a:t>
                      </a:r>
                      <a:r>
                        <a:rPr lang="en-US" altLang="ja-JP" sz="1100" dirty="0">
                          <a:latin typeface="+mn-ea"/>
                          <a:ea typeface="+mn-ea"/>
                        </a:rPr>
                        <a:t>/Linux</a:t>
                      </a:r>
                      <a:endParaRPr lang="ja-JP" sz="1100" dirty="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US" altLang="ja-JP" sz="1100" dirty="0">
                          <a:latin typeface="+mn-ea"/>
                          <a:ea typeface="+mn-ea"/>
                        </a:rPr>
                        <a:t>OIDC</a:t>
                      </a:r>
                      <a:r>
                        <a:rPr lang="ja-JP" altLang="en-US" sz="1100" dirty="0">
                          <a:latin typeface="+mn-ea"/>
                          <a:ea typeface="+mn-ea"/>
                        </a:rPr>
                        <a:t>が有利</a:t>
                      </a:r>
                      <a:endParaRPr lang="en-US" altLang="ja-JP" sz="1100" dirty="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35952777"/>
                  </a:ext>
                </a:extLst>
              </a:tr>
              <a:tr h="213757">
                <a:tc>
                  <a:txBody>
                    <a:bodyPr/>
                    <a:lstStyle/>
                    <a:p>
                      <a:pPr>
                        <a:buNone/>
                      </a:pPr>
                      <a:r>
                        <a:rPr lang="ja-JP" sz="1100" b="1">
                          <a:latin typeface="+mn-ea"/>
                          <a:ea typeface="+mn-ea"/>
                        </a:rPr>
                        <a:t>Windowsドメイン依存性</a:t>
                      </a:r>
                      <a:endParaRPr lang="ja-JP" sz="110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en-US" altLang="ja-JP" sz="1100" dirty="0">
                          <a:latin typeface="+mn-ea"/>
                          <a:ea typeface="+mn-ea"/>
                        </a:rPr>
                        <a:t>AD</a:t>
                      </a:r>
                      <a:r>
                        <a:rPr lang="ja-JP" sz="1100" dirty="0">
                          <a:latin typeface="+mn-ea"/>
                          <a:ea typeface="+mn-ea"/>
                        </a:rPr>
                        <a:t>ドメインが必要</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a:latin typeface="+mn-ea"/>
                          <a:ea typeface="+mn-ea"/>
                        </a:rPr>
                        <a:t>Windowsドメインに依存しない</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OIDCが有利</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71755073"/>
                  </a:ext>
                </a:extLst>
              </a:tr>
              <a:tr h="213757">
                <a:tc>
                  <a:txBody>
                    <a:bodyPr/>
                    <a:lstStyle/>
                    <a:p>
                      <a:pPr>
                        <a:buNone/>
                      </a:pPr>
                      <a:r>
                        <a:rPr lang="ja-JP" sz="1100" b="1" dirty="0">
                          <a:latin typeface="+mn-ea"/>
                          <a:ea typeface="+mn-ea"/>
                        </a:rPr>
                        <a:t>異なるドメイン間の連携</a:t>
                      </a:r>
                      <a:endParaRPr lang="ja-JP" sz="1100" dirty="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Domain Trust、Forest Trust等の設定が必要</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Federationにより容易に連携可能</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OIDCが有利</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50577599"/>
                  </a:ext>
                </a:extLst>
              </a:tr>
              <a:tr h="213757">
                <a:tc>
                  <a:txBody>
                    <a:bodyPr/>
                    <a:lstStyle/>
                    <a:p>
                      <a:pPr>
                        <a:buNone/>
                      </a:pPr>
                      <a:r>
                        <a:rPr lang="ja-JP" sz="1100" b="1">
                          <a:latin typeface="+mn-ea"/>
                          <a:ea typeface="+mn-ea"/>
                        </a:rPr>
                        <a:t>異なる組織間アクセス</a:t>
                      </a:r>
                      <a:endParaRPr lang="ja-JP" sz="110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実現が困難、Trust構築が必要</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標準プロトコルで実現可能</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OIDCが有利</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19250369"/>
                  </a:ext>
                </a:extLst>
              </a:tr>
              <a:tr h="348841">
                <a:tc>
                  <a:txBody>
                    <a:bodyPr/>
                    <a:lstStyle/>
                    <a:p>
                      <a:pPr>
                        <a:buNone/>
                      </a:pPr>
                      <a:r>
                        <a:rPr lang="ja-JP" sz="1100" b="1">
                          <a:latin typeface="+mn-ea"/>
                          <a:ea typeface="+mn-ea"/>
                        </a:rPr>
                        <a:t>シングルサインオン（SSO）</a:t>
                      </a:r>
                      <a:endParaRPr lang="ja-JP" sz="110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Windowsドメイン内では優秀</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Microsoft 365等と統合可能な企業SSOを実現</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OIDCが有利</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62343164"/>
                  </a:ext>
                </a:extLst>
              </a:tr>
              <a:tr h="213757">
                <a:tc>
                  <a:txBody>
                    <a:bodyPr/>
                    <a:lstStyle/>
                    <a:p>
                      <a:pPr>
                        <a:buNone/>
                      </a:pPr>
                      <a:r>
                        <a:rPr lang="ja-JP" sz="1100" b="1">
                          <a:latin typeface="+mn-ea"/>
                          <a:ea typeface="+mn-ea"/>
                        </a:rPr>
                        <a:t>Webアプリケーション対応</a:t>
                      </a:r>
                      <a:endParaRPr lang="ja-JP" sz="110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Windows環境向け</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altLang="en-US" sz="1100" dirty="0">
                          <a:latin typeface="+mn-ea"/>
                          <a:ea typeface="+mn-ea"/>
                        </a:rPr>
                        <a:t>ブラウザ</a:t>
                      </a:r>
                      <a:r>
                        <a:rPr lang="ja-JP" sz="1100" dirty="0">
                          <a:latin typeface="+mn-ea"/>
                          <a:ea typeface="+mn-ea"/>
                        </a:rPr>
                        <a:t>、REST API、</a:t>
                      </a:r>
                      <a:r>
                        <a:rPr lang="ja-JP" altLang="en-US" sz="1100" dirty="0">
                          <a:latin typeface="+mn-ea"/>
                          <a:ea typeface="+mn-ea"/>
                        </a:rPr>
                        <a:t>クラウド</a:t>
                      </a:r>
                      <a:r>
                        <a:rPr lang="ja-JP" sz="1100" dirty="0">
                          <a:latin typeface="+mn-ea"/>
                          <a:ea typeface="+mn-ea"/>
                        </a:rPr>
                        <a:t>環境に最適</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OIDCが有利</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9203508"/>
                  </a:ext>
                </a:extLst>
              </a:tr>
              <a:tr h="213757">
                <a:tc>
                  <a:txBody>
                    <a:bodyPr/>
                    <a:lstStyle/>
                    <a:p>
                      <a:pPr>
                        <a:buNone/>
                      </a:pPr>
                      <a:r>
                        <a:rPr lang="ja-JP" sz="1100" b="1">
                          <a:latin typeface="+mn-ea"/>
                          <a:ea typeface="+mn-ea"/>
                        </a:rPr>
                        <a:t>クラウド環境対応</a:t>
                      </a:r>
                      <a:endParaRPr lang="ja-JP" sz="110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制約あり</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Azure等のクラウド環境に適している</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OIDCが有利</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38670775"/>
                  </a:ext>
                </a:extLst>
              </a:tr>
              <a:tr h="213757">
                <a:tc>
                  <a:txBody>
                    <a:bodyPr/>
                    <a:lstStyle/>
                    <a:p>
                      <a:pPr>
                        <a:buNone/>
                      </a:pPr>
                      <a:r>
                        <a:rPr lang="ja-JP" sz="1100" b="1" dirty="0">
                          <a:latin typeface="+mn-ea"/>
                          <a:ea typeface="+mn-ea"/>
                        </a:rPr>
                        <a:t>多要素認証（MFA）対応</a:t>
                      </a:r>
                      <a:endParaRPr lang="ja-JP" sz="1100" dirty="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追加構成が必要</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Entra ID等で標準対応</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OIDCが有利</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3844447"/>
                  </a:ext>
                </a:extLst>
              </a:tr>
              <a:tr h="348841">
                <a:tc>
                  <a:txBody>
                    <a:bodyPr/>
                    <a:lstStyle/>
                    <a:p>
                      <a:pPr>
                        <a:buNone/>
                      </a:pPr>
                      <a:r>
                        <a:rPr kumimoji="1" lang="ja-JP" altLang="en-US" sz="1100" b="1" kern="1200" dirty="0">
                          <a:solidFill>
                            <a:schemeClr val="tx1"/>
                          </a:solidFill>
                          <a:latin typeface="+mn-ea"/>
                          <a:ea typeface="+mn-ea"/>
                          <a:cs typeface="+mn-cs"/>
                        </a:rPr>
                        <a:t>条件付きアクセス</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限定的</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ロケーション、端末、リスクベース制御が可能</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OIDCが有利</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61937450"/>
                  </a:ext>
                </a:extLst>
              </a:tr>
              <a:tr h="213757">
                <a:tc>
                  <a:txBody>
                    <a:bodyPr/>
                    <a:lstStyle/>
                    <a:p>
                      <a:pPr>
                        <a:buNone/>
                      </a:pPr>
                      <a:r>
                        <a:rPr lang="ja-JP" sz="1100" b="1">
                          <a:latin typeface="+mn-ea"/>
                          <a:ea typeface="+mn-ea"/>
                        </a:rPr>
                        <a:t>IDライフサイクル管理</a:t>
                      </a:r>
                      <a:endParaRPr lang="ja-JP" sz="110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AD内で管理</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a:latin typeface="+mn-ea"/>
                          <a:ea typeface="+mn-ea"/>
                        </a:rPr>
                        <a:t>企業統合ID基盤で管理可能</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OIDCが有利</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29121528"/>
                  </a:ext>
                </a:extLst>
              </a:tr>
              <a:tr h="213757">
                <a:tc>
                  <a:txBody>
                    <a:bodyPr/>
                    <a:lstStyle/>
                    <a:p>
                      <a:pPr>
                        <a:buNone/>
                      </a:pPr>
                      <a:r>
                        <a:rPr lang="ja-JP" sz="1100" b="1">
                          <a:latin typeface="+mn-ea"/>
                          <a:ea typeface="+mn-ea"/>
                        </a:rPr>
                        <a:t>既存PI権限モデル利用</a:t>
                      </a:r>
                      <a:endParaRPr lang="ja-JP" sz="110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PI Identity / PI Mappingを利用可能</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PI Identity / Claims Mappingを利用可能</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同等</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89821938"/>
                  </a:ext>
                </a:extLst>
              </a:tr>
              <a:tr h="348841">
                <a:tc>
                  <a:txBody>
                    <a:bodyPr/>
                    <a:lstStyle/>
                    <a:p>
                      <a:pPr>
                        <a:buNone/>
                      </a:pPr>
                      <a:r>
                        <a:rPr lang="ja-JP" sz="1100" b="1">
                          <a:latin typeface="+mn-ea"/>
                          <a:ea typeface="+mn-ea"/>
                        </a:rPr>
                        <a:t>権限制御（Authorization）</a:t>
                      </a:r>
                      <a:endParaRPr lang="ja-JP" sz="110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PI Identity、PI Mapping、ACLによる制御</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PI Identity、Claim Mapping、ACLによる制御</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同等</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58762290"/>
                  </a:ext>
                </a:extLst>
              </a:tr>
              <a:tr h="213757">
                <a:tc>
                  <a:txBody>
                    <a:bodyPr/>
                    <a:lstStyle/>
                    <a:p>
                      <a:pPr>
                        <a:buNone/>
                      </a:pPr>
                      <a:r>
                        <a:rPr lang="ja-JP" sz="1100" b="1">
                          <a:latin typeface="+mn-ea"/>
                          <a:ea typeface="+mn-ea"/>
                        </a:rPr>
                        <a:t>既存環境からの移行性</a:t>
                      </a:r>
                      <a:endParaRPr lang="ja-JP" sz="110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a:latin typeface="+mn-ea"/>
                          <a:ea typeface="+mn-ea"/>
                        </a:rPr>
                        <a:t>既存PI環境との親和性が高い</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既存権限モデルを維持可能</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a:latin typeface="+mn-ea"/>
                          <a:ea typeface="+mn-ea"/>
                        </a:rPr>
                        <a:t>同等</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13117098"/>
                  </a:ext>
                </a:extLst>
              </a:tr>
              <a:tr h="213757">
                <a:tc>
                  <a:txBody>
                    <a:bodyPr/>
                    <a:lstStyle/>
                    <a:p>
                      <a:pPr>
                        <a:buNone/>
                      </a:pPr>
                      <a:r>
                        <a:rPr lang="ja-JP" sz="1100" b="1">
                          <a:latin typeface="+mn-ea"/>
                          <a:ea typeface="+mn-ea"/>
                        </a:rPr>
                        <a:t>初期設定の容易性</a:t>
                      </a:r>
                      <a:endParaRPr lang="ja-JP" sz="110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a:latin typeface="+mn-ea"/>
                          <a:ea typeface="+mn-ea"/>
                        </a:rPr>
                        <a:t>Windows環境では比較的容易</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Client設定、Claim設定等が必要</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ADが有利</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37079341"/>
                  </a:ext>
                </a:extLst>
              </a:tr>
              <a:tr h="213757">
                <a:tc>
                  <a:txBody>
                    <a:bodyPr/>
                    <a:lstStyle/>
                    <a:p>
                      <a:pPr>
                        <a:buNone/>
                      </a:pPr>
                      <a:r>
                        <a:rPr lang="ja-JP" sz="1100" b="1">
                          <a:latin typeface="+mn-ea"/>
                          <a:ea typeface="+mn-ea"/>
                        </a:rPr>
                        <a:t>運用管理負荷</a:t>
                      </a:r>
                      <a:endParaRPr lang="ja-JP" sz="110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a:latin typeface="+mn-ea"/>
                          <a:ea typeface="+mn-ea"/>
                        </a:rPr>
                        <a:t>AD管理に依存</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統合ID基盤で一元管理可能</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長期的にはOIDC有利</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33781344"/>
                  </a:ext>
                </a:extLst>
              </a:tr>
              <a:tr h="213757">
                <a:tc>
                  <a:txBody>
                    <a:bodyPr/>
                    <a:lstStyle/>
                    <a:p>
                      <a:pPr>
                        <a:buNone/>
                      </a:pPr>
                      <a:r>
                        <a:rPr lang="ja-JP" sz="1100" b="1" dirty="0">
                          <a:latin typeface="+mn-ea"/>
                          <a:ea typeface="+mn-ea"/>
                        </a:rPr>
                        <a:t>認証性能</a:t>
                      </a:r>
                      <a:endParaRPr lang="ja-JP" sz="1100" dirty="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a:latin typeface="+mn-ea"/>
                          <a:ea typeface="+mn-ea"/>
                        </a:rPr>
                        <a:t>Kerberosによる高速認証</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Tokenベース認証で高速</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同等</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11649883"/>
                  </a:ext>
                </a:extLst>
              </a:tr>
              <a:tr h="348841">
                <a:tc>
                  <a:txBody>
                    <a:bodyPr/>
                    <a:lstStyle/>
                    <a:p>
                      <a:pPr>
                        <a:buNone/>
                      </a:pPr>
                      <a:r>
                        <a:rPr lang="ja-JP" sz="1100" b="1">
                          <a:latin typeface="+mn-ea"/>
                          <a:ea typeface="+mn-ea"/>
                        </a:rPr>
                        <a:t>可用性</a:t>
                      </a:r>
                      <a:endParaRPr lang="ja-JP" sz="110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a:latin typeface="+mn-ea"/>
                          <a:ea typeface="+mn-ea"/>
                        </a:rPr>
                        <a:t>ADサーバーの可用性に依存</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Identity Providerの可用性に依存（通常HA構成）</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同等</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69218258"/>
                  </a:ext>
                </a:extLst>
              </a:tr>
              <a:tr h="213757">
                <a:tc>
                  <a:txBody>
                    <a:bodyPr/>
                    <a:lstStyle/>
                    <a:p>
                      <a:pPr>
                        <a:buNone/>
                      </a:pPr>
                      <a:r>
                        <a:rPr lang="ja-JP" sz="1100" b="1">
                          <a:latin typeface="+mn-ea"/>
                          <a:ea typeface="+mn-ea"/>
                        </a:rPr>
                        <a:t>将来拡張性</a:t>
                      </a:r>
                      <a:endParaRPr lang="ja-JP" sz="110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a:latin typeface="+mn-ea"/>
                          <a:ea typeface="+mn-ea"/>
                        </a:rPr>
                        <a:t>Windows環境では優秀</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altLang="en-US" sz="1100" dirty="0">
                          <a:latin typeface="+mn-ea"/>
                          <a:ea typeface="+mn-ea"/>
                        </a:rPr>
                        <a:t>クラウド</a:t>
                      </a:r>
                      <a:r>
                        <a:rPr lang="ja-JP" sz="1100" dirty="0">
                          <a:latin typeface="+mn-ea"/>
                          <a:ea typeface="+mn-ea"/>
                        </a:rPr>
                        <a:t>、API、外部連携に優れる</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OIDCが有利</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5949789"/>
                  </a:ext>
                </a:extLst>
              </a:tr>
              <a:tr h="213757">
                <a:tc>
                  <a:txBody>
                    <a:bodyPr/>
                    <a:lstStyle/>
                    <a:p>
                      <a:pPr>
                        <a:buNone/>
                      </a:pPr>
                      <a:r>
                        <a:rPr lang="ja-JP" sz="1100" b="1" dirty="0">
                          <a:latin typeface="+mn-ea"/>
                          <a:ea typeface="+mn-ea"/>
                        </a:rPr>
                        <a:t>将来方向性</a:t>
                      </a:r>
                      <a:endParaRPr lang="ja-JP" sz="1100" dirty="0">
                        <a:latin typeface="+mn-ea"/>
                        <a:ea typeface="+mn-ea"/>
                      </a:endParaRP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a:latin typeface="+mn-ea"/>
                          <a:ea typeface="+mn-ea"/>
                        </a:rPr>
                        <a:t>安定した成熟技術</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a:latin typeface="+mn-ea"/>
                          <a:ea typeface="+mn-ea"/>
                        </a:rPr>
                        <a:t>クラウド時代の標準認証方式</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100" dirty="0">
                          <a:latin typeface="+mn-ea"/>
                          <a:ea typeface="+mn-ea"/>
                        </a:rPr>
                        <a:t>OIDCが有利</a:t>
                      </a:r>
                    </a:p>
                  </a:txBody>
                  <a:tcPr marL="26213" marR="26213" marT="13106" marB="13106"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174226501"/>
                  </a:ext>
                </a:extLst>
              </a:tr>
            </a:tbl>
          </a:graphicData>
        </a:graphic>
      </p:graphicFrame>
      <p:sp>
        <p:nvSpPr>
          <p:cNvPr id="3" name="テキスト ボックス 2">
            <a:extLst>
              <a:ext uri="{FF2B5EF4-FFF2-40B4-BE49-F238E27FC236}">
                <a16:creationId xmlns:a16="http://schemas.microsoft.com/office/drawing/2014/main" id="{3AB37FB7-72CD-7FF5-92FD-33E5AD034D06}"/>
              </a:ext>
            </a:extLst>
          </p:cNvPr>
          <p:cNvSpPr txBox="1"/>
          <p:nvPr/>
        </p:nvSpPr>
        <p:spPr>
          <a:xfrm>
            <a:off x="349716" y="6409823"/>
            <a:ext cx="11686717" cy="307777"/>
          </a:xfrm>
          <a:prstGeom prst="rect">
            <a:avLst/>
          </a:prstGeom>
          <a:solidFill>
            <a:schemeClr val="bg1"/>
          </a:solidFill>
        </p:spPr>
        <p:txBody>
          <a:bodyPr wrap="square">
            <a:spAutoFit/>
          </a:bodyPr>
          <a:lstStyle/>
          <a:p>
            <a:pPr>
              <a:buNone/>
            </a:pPr>
            <a:r>
              <a:rPr lang="ja-JP" altLang="en-US" sz="1400" b="1" dirty="0"/>
              <a:t>参照資料：</a:t>
            </a:r>
            <a:r>
              <a:rPr lang="en-US" altLang="ja-JP" sz="1400" dirty="0"/>
              <a:t>P1</a:t>
            </a:r>
            <a:r>
              <a:rPr lang="ja-JP" altLang="en-US" sz="1400" dirty="0"/>
              <a:t>の参照資料同様</a:t>
            </a:r>
            <a:endParaRPr lang="en-US" altLang="ja-JP" sz="1400" dirty="0"/>
          </a:p>
        </p:txBody>
      </p:sp>
    </p:spTree>
    <p:extLst>
      <p:ext uri="{BB962C8B-B14F-4D97-AF65-F5344CB8AC3E}">
        <p14:creationId xmlns:p14="http://schemas.microsoft.com/office/powerpoint/2010/main" val="2717219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正方形/長方形 51">
            <a:extLst>
              <a:ext uri="{FF2B5EF4-FFF2-40B4-BE49-F238E27FC236}">
                <a16:creationId xmlns:a16="http://schemas.microsoft.com/office/drawing/2014/main" id="{001F04DC-690D-0206-29DA-98DCBDB532FF}"/>
              </a:ext>
            </a:extLst>
          </p:cNvPr>
          <p:cNvSpPr/>
          <p:nvPr/>
        </p:nvSpPr>
        <p:spPr>
          <a:xfrm>
            <a:off x="398025" y="2213811"/>
            <a:ext cx="3458611" cy="20983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プレースホルダー 1">
            <a:extLst>
              <a:ext uri="{FF2B5EF4-FFF2-40B4-BE49-F238E27FC236}">
                <a16:creationId xmlns:a16="http://schemas.microsoft.com/office/drawing/2014/main" id="{B05D6DDF-CCAE-3A27-6A33-80C8C661F932}"/>
              </a:ext>
            </a:extLst>
          </p:cNvPr>
          <p:cNvSpPr>
            <a:spLocks noGrp="1"/>
          </p:cNvSpPr>
          <p:nvPr>
            <p:ph type="body" sz="quarter" idx="16"/>
          </p:nvPr>
        </p:nvSpPr>
        <p:spPr/>
        <p:txBody>
          <a:bodyPr/>
          <a:lstStyle/>
          <a:p>
            <a:r>
              <a:rPr kumimoji="1" lang="en-US" altLang="ja-JP" dirty="0"/>
              <a:t>PI</a:t>
            </a:r>
            <a:r>
              <a:rPr kumimoji="1" lang="ja-JP" altLang="en-US" dirty="0"/>
              <a:t>認証系の進化（技術角度：</a:t>
            </a:r>
            <a:r>
              <a:rPr kumimoji="1" lang="en-US" altLang="ja-JP" dirty="0"/>
              <a:t>AIM</a:t>
            </a:r>
            <a:r>
              <a:rPr lang="ja-JP" altLang="en-US" dirty="0"/>
              <a:t>より統一</a:t>
            </a:r>
            <a:r>
              <a:rPr kumimoji="1" lang="ja-JP" altLang="en-US" dirty="0"/>
              <a:t>）</a:t>
            </a:r>
          </a:p>
        </p:txBody>
      </p:sp>
      <p:grpSp>
        <p:nvGrpSpPr>
          <p:cNvPr id="50" name="グループ化 49">
            <a:extLst>
              <a:ext uri="{FF2B5EF4-FFF2-40B4-BE49-F238E27FC236}">
                <a16:creationId xmlns:a16="http://schemas.microsoft.com/office/drawing/2014/main" id="{8B96DEFA-75D1-E250-49CF-C67B20FAC822}"/>
              </a:ext>
            </a:extLst>
          </p:cNvPr>
          <p:cNvGrpSpPr/>
          <p:nvPr/>
        </p:nvGrpSpPr>
        <p:grpSpPr>
          <a:xfrm>
            <a:off x="342422" y="2305960"/>
            <a:ext cx="3449984" cy="1890423"/>
            <a:chOff x="1040741" y="2724142"/>
            <a:chExt cx="2638049" cy="1445522"/>
          </a:xfrm>
        </p:grpSpPr>
        <p:pic>
          <p:nvPicPr>
            <p:cNvPr id="12" name="図 11">
              <a:extLst>
                <a:ext uri="{FF2B5EF4-FFF2-40B4-BE49-F238E27FC236}">
                  <a16:creationId xmlns:a16="http://schemas.microsoft.com/office/drawing/2014/main" id="{BDA10234-71DC-8C14-5A66-9E787E5F008F}"/>
                </a:ext>
              </a:extLst>
            </p:cNvPr>
            <p:cNvPicPr>
              <a:picLocks noChangeAspect="1"/>
            </p:cNvPicPr>
            <p:nvPr/>
          </p:nvPicPr>
          <p:blipFill>
            <a:blip r:embed="rId3">
              <a:clrChange>
                <a:clrFrom>
                  <a:srgbClr val="FFFFFF"/>
                </a:clrFrom>
                <a:clrTo>
                  <a:srgbClr val="FFFFFF">
                    <a:alpha val="0"/>
                  </a:srgbClr>
                </a:clrTo>
              </a:clrChange>
              <a:grayscl/>
            </a:blip>
            <a:srcRect l="962" t="43727" r="86097" b="30834"/>
            <a:stretch>
              <a:fillRect/>
            </a:stretch>
          </p:blipFill>
          <p:spPr>
            <a:xfrm>
              <a:off x="1149503" y="3383280"/>
              <a:ext cx="649224" cy="667512"/>
            </a:xfrm>
            <a:custGeom>
              <a:avLst/>
              <a:gdLst>
                <a:gd name="csX0" fmla="*/ 0 w 649224"/>
                <a:gd name="csY0" fmla="*/ 0 h 667512"/>
                <a:gd name="csX1" fmla="*/ 649224 w 649224"/>
                <a:gd name="csY1" fmla="*/ 0 h 667512"/>
                <a:gd name="csX2" fmla="*/ 649224 w 649224"/>
                <a:gd name="csY2" fmla="*/ 667512 h 667512"/>
                <a:gd name="csX3" fmla="*/ 0 w 649224"/>
                <a:gd name="csY3" fmla="*/ 667512 h 667512"/>
              </a:gdLst>
              <a:ahLst/>
              <a:cxnLst>
                <a:cxn ang="0">
                  <a:pos x="csX0" y="csY0"/>
                </a:cxn>
                <a:cxn ang="0">
                  <a:pos x="csX1" y="csY1"/>
                </a:cxn>
                <a:cxn ang="0">
                  <a:pos x="csX2" y="csY2"/>
                </a:cxn>
                <a:cxn ang="0">
                  <a:pos x="csX3" y="csY3"/>
                </a:cxn>
              </a:cxnLst>
              <a:rect l="l" t="t" r="r" b="b"/>
              <a:pathLst>
                <a:path w="649224" h="667512">
                  <a:moveTo>
                    <a:pt x="0" y="0"/>
                  </a:moveTo>
                  <a:lnTo>
                    <a:pt x="649224" y="0"/>
                  </a:lnTo>
                  <a:lnTo>
                    <a:pt x="649224" y="667512"/>
                  </a:lnTo>
                  <a:lnTo>
                    <a:pt x="0" y="667512"/>
                  </a:lnTo>
                  <a:close/>
                </a:path>
              </a:pathLst>
            </a:custGeom>
          </p:spPr>
        </p:pic>
        <p:pic>
          <p:nvPicPr>
            <p:cNvPr id="17" name="図 16">
              <a:extLst>
                <a:ext uri="{FF2B5EF4-FFF2-40B4-BE49-F238E27FC236}">
                  <a16:creationId xmlns:a16="http://schemas.microsoft.com/office/drawing/2014/main" id="{5F4A276F-5540-3C72-2A22-A6708155B3BF}"/>
                </a:ext>
              </a:extLst>
            </p:cNvPr>
            <p:cNvPicPr>
              <a:picLocks noChangeAspect="1"/>
            </p:cNvPicPr>
            <p:nvPr/>
          </p:nvPicPr>
          <p:blipFill>
            <a:blip r:embed="rId3">
              <a:clrChange>
                <a:clrFrom>
                  <a:srgbClr val="FFFFFF"/>
                </a:clrFrom>
                <a:clrTo>
                  <a:srgbClr val="FFFFFF">
                    <a:alpha val="0"/>
                  </a:srgbClr>
                </a:clrTo>
              </a:clrChange>
              <a:grayscl/>
            </a:blip>
            <a:srcRect l="30276" t="70031" r="55506"/>
            <a:stretch>
              <a:fillRect/>
            </a:stretch>
          </p:blipFill>
          <p:spPr>
            <a:xfrm>
              <a:off x="2948137" y="3383280"/>
              <a:ext cx="713232" cy="786384"/>
            </a:xfrm>
            <a:custGeom>
              <a:avLst/>
              <a:gdLst>
                <a:gd name="csX0" fmla="*/ 0 w 713232"/>
                <a:gd name="csY0" fmla="*/ 0 h 786384"/>
                <a:gd name="csX1" fmla="*/ 713232 w 713232"/>
                <a:gd name="csY1" fmla="*/ 0 h 786384"/>
                <a:gd name="csX2" fmla="*/ 713232 w 713232"/>
                <a:gd name="csY2" fmla="*/ 786384 h 786384"/>
                <a:gd name="csX3" fmla="*/ 0 w 713232"/>
                <a:gd name="csY3" fmla="*/ 786384 h 786384"/>
              </a:gdLst>
              <a:ahLst/>
              <a:cxnLst>
                <a:cxn ang="0">
                  <a:pos x="csX0" y="csY0"/>
                </a:cxn>
                <a:cxn ang="0">
                  <a:pos x="csX1" y="csY1"/>
                </a:cxn>
                <a:cxn ang="0">
                  <a:pos x="csX2" y="csY2"/>
                </a:cxn>
                <a:cxn ang="0">
                  <a:pos x="csX3" y="csY3"/>
                </a:cxn>
              </a:cxnLst>
              <a:rect l="l" t="t" r="r" b="b"/>
              <a:pathLst>
                <a:path w="713232" h="786384">
                  <a:moveTo>
                    <a:pt x="0" y="0"/>
                  </a:moveTo>
                  <a:lnTo>
                    <a:pt x="713232" y="0"/>
                  </a:lnTo>
                  <a:lnTo>
                    <a:pt x="713232" y="786384"/>
                  </a:lnTo>
                  <a:lnTo>
                    <a:pt x="0" y="786384"/>
                  </a:lnTo>
                  <a:close/>
                </a:path>
              </a:pathLst>
            </a:custGeom>
          </p:spPr>
        </p:pic>
        <p:cxnSp>
          <p:nvCxnSpPr>
            <p:cNvPr id="19" name="直線矢印コネクタ 18">
              <a:extLst>
                <a:ext uri="{FF2B5EF4-FFF2-40B4-BE49-F238E27FC236}">
                  <a16:creationId xmlns:a16="http://schemas.microsoft.com/office/drawing/2014/main" id="{5FCA8E92-0074-2800-B3F2-BF4CAC8DF78E}"/>
                </a:ext>
              </a:extLst>
            </p:cNvPr>
            <p:cNvCxnSpPr/>
            <p:nvPr/>
          </p:nvCxnSpPr>
          <p:spPr>
            <a:xfrm>
              <a:off x="1798727" y="3680460"/>
              <a:ext cx="1060704" cy="0"/>
            </a:xfrm>
            <a:prstGeom prst="straightConnector1">
              <a:avLst/>
            </a:prstGeom>
            <a:ln>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74D8F017-41AE-35FD-8834-C5EB32DB1B50}"/>
                </a:ext>
              </a:extLst>
            </p:cNvPr>
            <p:cNvCxnSpPr/>
            <p:nvPr/>
          </p:nvCxnSpPr>
          <p:spPr>
            <a:xfrm>
              <a:off x="1798727" y="3604260"/>
              <a:ext cx="1060704" cy="0"/>
            </a:xfrm>
            <a:prstGeom prst="straightConnector1">
              <a:avLst/>
            </a:prstGeom>
            <a:ln>
              <a:solidFill>
                <a:schemeClr val="bg1">
                  <a:lumMod val="50000"/>
                </a:schemeClr>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7DFB9AE7-806C-466D-35D5-6AF4563AB23A}"/>
                </a:ext>
              </a:extLst>
            </p:cNvPr>
            <p:cNvSpPr txBox="1"/>
            <p:nvPr/>
          </p:nvSpPr>
          <p:spPr>
            <a:xfrm>
              <a:off x="1040741" y="2724142"/>
              <a:ext cx="2638049" cy="258877"/>
            </a:xfrm>
            <a:prstGeom prst="rect">
              <a:avLst/>
            </a:prstGeom>
            <a:noFill/>
          </p:spPr>
          <p:txBody>
            <a:bodyPr wrap="none" rtlCol="0">
              <a:spAutoFit/>
            </a:bodyPr>
            <a:lstStyle/>
            <a:p>
              <a:r>
                <a:rPr lang="ja-JP" altLang="en-US" sz="1600" b="1" dirty="0"/>
                <a:t>（旧）</a:t>
              </a:r>
              <a:r>
                <a:rPr kumimoji="1" lang="ja-JP" altLang="en-US" sz="1600" b="1" dirty="0"/>
                <a:t>認証フロー</a:t>
              </a:r>
              <a:r>
                <a:rPr kumimoji="1" lang="en-US" altLang="ja-JP" sz="1600" b="1" dirty="0"/>
                <a:t>-Powered by AD</a:t>
              </a:r>
              <a:endParaRPr kumimoji="1" lang="en-US" altLang="zh-CN" sz="1600" b="1" dirty="0"/>
            </a:p>
          </p:txBody>
        </p:sp>
        <p:pic>
          <p:nvPicPr>
            <p:cNvPr id="30" name="図 29">
              <a:extLst>
                <a:ext uri="{FF2B5EF4-FFF2-40B4-BE49-F238E27FC236}">
                  <a16:creationId xmlns:a16="http://schemas.microsoft.com/office/drawing/2014/main" id="{B71EFF94-884D-F207-7706-CB2BCFD35F16}"/>
                </a:ext>
              </a:extLst>
            </p:cNvPr>
            <p:cNvPicPr>
              <a:picLocks noChangeAspect="1"/>
            </p:cNvPicPr>
            <p:nvPr/>
          </p:nvPicPr>
          <p:blipFill>
            <a:blip r:embed="rId3">
              <a:clrChange>
                <a:clrFrom>
                  <a:srgbClr val="FFFFFF"/>
                </a:clrFrom>
                <a:clrTo>
                  <a:srgbClr val="FFFFFF">
                    <a:alpha val="0"/>
                  </a:srgbClr>
                </a:clrTo>
              </a:clrChange>
            </a:blip>
            <a:srcRect l="21136" t="56147" r="72115" b="30951"/>
            <a:stretch>
              <a:fillRect/>
            </a:stretch>
          </p:blipFill>
          <p:spPr>
            <a:xfrm>
              <a:off x="2184801" y="3222948"/>
              <a:ext cx="338554" cy="338554"/>
            </a:xfrm>
            <a:custGeom>
              <a:avLst/>
              <a:gdLst>
                <a:gd name="csX0" fmla="*/ 169277 w 338554"/>
                <a:gd name="csY0" fmla="*/ 0 h 338554"/>
                <a:gd name="csX1" fmla="*/ 338554 w 338554"/>
                <a:gd name="csY1" fmla="*/ 169277 h 338554"/>
                <a:gd name="csX2" fmla="*/ 169277 w 338554"/>
                <a:gd name="csY2" fmla="*/ 338554 h 338554"/>
                <a:gd name="csX3" fmla="*/ 0 w 338554"/>
                <a:gd name="csY3" fmla="*/ 169277 h 338554"/>
                <a:gd name="csX4" fmla="*/ 169277 w 338554"/>
                <a:gd name="csY4" fmla="*/ 0 h 338554"/>
              </a:gdLst>
              <a:ahLst/>
              <a:cxnLst>
                <a:cxn ang="0">
                  <a:pos x="csX0" y="csY0"/>
                </a:cxn>
                <a:cxn ang="0">
                  <a:pos x="csX1" y="csY1"/>
                </a:cxn>
                <a:cxn ang="0">
                  <a:pos x="csX2" y="csY2"/>
                </a:cxn>
                <a:cxn ang="0">
                  <a:pos x="csX3" y="csY3"/>
                </a:cxn>
                <a:cxn ang="0">
                  <a:pos x="csX4" y="csY4"/>
                </a:cxn>
              </a:cxnLst>
              <a:rect l="l" t="t" r="r" b="b"/>
              <a:pathLst>
                <a:path w="338554" h="338554">
                  <a:moveTo>
                    <a:pt x="169277" y="0"/>
                  </a:moveTo>
                  <a:cubicBezTo>
                    <a:pt x="262766" y="0"/>
                    <a:pt x="338554" y="75788"/>
                    <a:pt x="338554" y="169277"/>
                  </a:cubicBezTo>
                  <a:cubicBezTo>
                    <a:pt x="338554" y="262766"/>
                    <a:pt x="262766" y="338554"/>
                    <a:pt x="169277" y="338554"/>
                  </a:cubicBezTo>
                  <a:cubicBezTo>
                    <a:pt x="75788" y="338554"/>
                    <a:pt x="0" y="262766"/>
                    <a:pt x="0" y="169277"/>
                  </a:cubicBezTo>
                  <a:cubicBezTo>
                    <a:pt x="0" y="75788"/>
                    <a:pt x="75788" y="0"/>
                    <a:pt x="169277" y="0"/>
                  </a:cubicBezTo>
                  <a:close/>
                </a:path>
              </a:pathLst>
            </a:custGeom>
          </p:spPr>
        </p:pic>
      </p:grpSp>
      <p:sp>
        <p:nvSpPr>
          <p:cNvPr id="26" name="テキスト ボックス 25">
            <a:extLst>
              <a:ext uri="{FF2B5EF4-FFF2-40B4-BE49-F238E27FC236}">
                <a16:creationId xmlns:a16="http://schemas.microsoft.com/office/drawing/2014/main" id="{2985D69D-2D6B-4BE3-BFCB-89DC01252A2A}"/>
              </a:ext>
            </a:extLst>
          </p:cNvPr>
          <p:cNvSpPr txBox="1"/>
          <p:nvPr/>
        </p:nvSpPr>
        <p:spPr>
          <a:xfrm>
            <a:off x="6880272" y="932863"/>
            <a:ext cx="3845925" cy="338554"/>
          </a:xfrm>
          <a:prstGeom prst="rect">
            <a:avLst/>
          </a:prstGeom>
          <a:noFill/>
        </p:spPr>
        <p:txBody>
          <a:bodyPr wrap="none" rtlCol="0">
            <a:spAutoFit/>
          </a:bodyPr>
          <a:lstStyle/>
          <a:p>
            <a:r>
              <a:rPr lang="ja-JP" altLang="en-US" sz="1600" b="1" dirty="0">
                <a:solidFill>
                  <a:srgbClr val="7030A0"/>
                </a:solidFill>
              </a:rPr>
              <a:t>（新）</a:t>
            </a:r>
            <a:r>
              <a:rPr kumimoji="1" lang="ja-JP" altLang="en-US" sz="1600" b="1" dirty="0">
                <a:solidFill>
                  <a:srgbClr val="7030A0"/>
                </a:solidFill>
              </a:rPr>
              <a:t>認証フロー（方式１</a:t>
            </a:r>
            <a:r>
              <a:rPr kumimoji="1" lang="en-US" altLang="ja-JP" sz="1600" b="1" dirty="0">
                <a:solidFill>
                  <a:srgbClr val="7030A0"/>
                </a:solidFill>
              </a:rPr>
              <a:t>:AD/OIDC</a:t>
            </a:r>
            <a:r>
              <a:rPr kumimoji="1" lang="ja-JP" altLang="en-US" sz="1600" b="1" dirty="0">
                <a:solidFill>
                  <a:srgbClr val="7030A0"/>
                </a:solidFill>
              </a:rPr>
              <a:t>）</a:t>
            </a:r>
            <a:endParaRPr kumimoji="1" lang="en-US" altLang="zh-CN" sz="1600" b="1" dirty="0">
              <a:solidFill>
                <a:srgbClr val="7030A0"/>
              </a:solidFill>
            </a:endParaRPr>
          </a:p>
        </p:txBody>
      </p:sp>
      <p:sp>
        <p:nvSpPr>
          <p:cNvPr id="27" name="テキスト ボックス 26">
            <a:extLst>
              <a:ext uri="{FF2B5EF4-FFF2-40B4-BE49-F238E27FC236}">
                <a16:creationId xmlns:a16="http://schemas.microsoft.com/office/drawing/2014/main" id="{180B9AD0-054D-2A17-511A-A30390B083C0}"/>
              </a:ext>
            </a:extLst>
          </p:cNvPr>
          <p:cNvSpPr txBox="1"/>
          <p:nvPr/>
        </p:nvSpPr>
        <p:spPr>
          <a:xfrm>
            <a:off x="6427423" y="4209806"/>
            <a:ext cx="4956806" cy="338554"/>
          </a:xfrm>
          <a:prstGeom prst="rect">
            <a:avLst/>
          </a:prstGeom>
          <a:noFill/>
        </p:spPr>
        <p:txBody>
          <a:bodyPr wrap="none" rtlCol="0">
            <a:spAutoFit/>
          </a:bodyPr>
          <a:lstStyle/>
          <a:p>
            <a:r>
              <a:rPr lang="ja-JP" altLang="en-US" sz="1600" b="1" dirty="0">
                <a:solidFill>
                  <a:srgbClr val="7030A0"/>
                </a:solidFill>
              </a:rPr>
              <a:t>（新）新</a:t>
            </a:r>
            <a:r>
              <a:rPr kumimoji="1" lang="ja-JP" altLang="en-US" sz="1600" b="1" dirty="0">
                <a:solidFill>
                  <a:srgbClr val="7030A0"/>
                </a:solidFill>
              </a:rPr>
              <a:t>認証フロー（方式２</a:t>
            </a:r>
            <a:r>
              <a:rPr kumimoji="1" lang="en-US" altLang="ja-JP" sz="1600" b="1" dirty="0">
                <a:solidFill>
                  <a:srgbClr val="7030A0"/>
                </a:solidFill>
              </a:rPr>
              <a:t>-AD/3</a:t>
            </a:r>
            <a:r>
              <a:rPr kumimoji="1" lang="en-US" altLang="ja-JP" sz="1600" b="1" baseline="30000" dirty="0">
                <a:solidFill>
                  <a:srgbClr val="7030A0"/>
                </a:solidFill>
              </a:rPr>
              <a:t>rd</a:t>
            </a:r>
            <a:r>
              <a:rPr kumimoji="1" lang="ja-JP" altLang="en-US" sz="1600" b="1" dirty="0">
                <a:solidFill>
                  <a:srgbClr val="7030A0"/>
                </a:solidFill>
              </a:rPr>
              <a:t>認証</a:t>
            </a:r>
            <a:r>
              <a:rPr kumimoji="1" lang="en-US" altLang="ja-JP" sz="1600" b="1" dirty="0">
                <a:solidFill>
                  <a:srgbClr val="7030A0"/>
                </a:solidFill>
              </a:rPr>
              <a:t>IdP</a:t>
            </a:r>
            <a:r>
              <a:rPr kumimoji="1" lang="ja-JP" altLang="en-US" sz="1600" b="1" dirty="0">
                <a:solidFill>
                  <a:srgbClr val="7030A0"/>
                </a:solidFill>
              </a:rPr>
              <a:t>連携）</a:t>
            </a:r>
            <a:endParaRPr kumimoji="1" lang="en-US" altLang="zh-CN" sz="1600" b="1" dirty="0">
              <a:solidFill>
                <a:srgbClr val="7030A0"/>
              </a:solidFill>
            </a:endParaRPr>
          </a:p>
        </p:txBody>
      </p:sp>
      <p:grpSp>
        <p:nvGrpSpPr>
          <p:cNvPr id="4" name="グループ化 3">
            <a:extLst>
              <a:ext uri="{FF2B5EF4-FFF2-40B4-BE49-F238E27FC236}">
                <a16:creationId xmlns:a16="http://schemas.microsoft.com/office/drawing/2014/main" id="{8321A27F-82B9-14DF-ACB7-D4C88DD55982}"/>
              </a:ext>
            </a:extLst>
          </p:cNvPr>
          <p:cNvGrpSpPr/>
          <p:nvPr/>
        </p:nvGrpSpPr>
        <p:grpSpPr>
          <a:xfrm>
            <a:off x="5359810" y="941367"/>
            <a:ext cx="5723322" cy="2993738"/>
            <a:chOff x="5359810" y="941367"/>
            <a:chExt cx="5723322" cy="2993738"/>
          </a:xfrm>
        </p:grpSpPr>
        <p:pic>
          <p:nvPicPr>
            <p:cNvPr id="37" name="図 36">
              <a:extLst>
                <a:ext uri="{FF2B5EF4-FFF2-40B4-BE49-F238E27FC236}">
                  <a16:creationId xmlns:a16="http://schemas.microsoft.com/office/drawing/2014/main" id="{0CFB5463-053A-6382-805E-00A87AE04D9B}"/>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a:xfrm>
              <a:off x="5359810" y="941367"/>
              <a:ext cx="5723322" cy="2993738"/>
            </a:xfrm>
            <a:custGeom>
              <a:avLst/>
              <a:gdLst>
                <a:gd name="csX0" fmla="*/ 2770850 w 5016480"/>
                <a:gd name="csY0" fmla="*/ 2111263 h 2624005"/>
                <a:gd name="csX1" fmla="*/ 2770850 w 5016480"/>
                <a:gd name="csY1" fmla="*/ 2340202 h 2624005"/>
                <a:gd name="csX2" fmla="*/ 3693716 w 5016480"/>
                <a:gd name="csY2" fmla="*/ 2340202 h 2624005"/>
                <a:gd name="csX3" fmla="*/ 3693716 w 5016480"/>
                <a:gd name="csY3" fmla="*/ 2111263 h 2624005"/>
                <a:gd name="csX4" fmla="*/ 1898783 w 5016480"/>
                <a:gd name="csY4" fmla="*/ 0 h 2624005"/>
                <a:gd name="csX5" fmla="*/ 5016480 w 5016480"/>
                <a:gd name="csY5" fmla="*/ 0 h 2624005"/>
                <a:gd name="csX6" fmla="*/ 5016480 w 5016480"/>
                <a:gd name="csY6" fmla="*/ 2297712 h 2624005"/>
                <a:gd name="csX7" fmla="*/ 3864817 w 5016480"/>
                <a:gd name="csY7" fmla="*/ 2297712 h 2624005"/>
                <a:gd name="csX8" fmla="*/ 3864817 w 5016480"/>
                <a:gd name="csY8" fmla="*/ 2624005 h 2624005"/>
                <a:gd name="csX9" fmla="*/ 1424982 w 5016480"/>
                <a:gd name="csY9" fmla="*/ 2624005 h 2624005"/>
                <a:gd name="csX10" fmla="*/ 1424982 w 5016480"/>
                <a:gd name="csY10" fmla="*/ 2433008 h 2624005"/>
                <a:gd name="csX11" fmla="*/ 0 w 5016480"/>
                <a:gd name="csY11" fmla="*/ 2433008 h 2624005"/>
                <a:gd name="csX12" fmla="*/ 0 w 5016480"/>
                <a:gd name="csY12" fmla="*/ 405400 h 2624005"/>
                <a:gd name="csX13" fmla="*/ 1898783 w 5016480"/>
                <a:gd name="csY13" fmla="*/ 405400 h 2624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016480" h="2624005">
                  <a:moveTo>
                    <a:pt x="2770850" y="2111263"/>
                  </a:moveTo>
                  <a:lnTo>
                    <a:pt x="2770850" y="2340202"/>
                  </a:lnTo>
                  <a:lnTo>
                    <a:pt x="3693716" y="2340202"/>
                  </a:lnTo>
                  <a:lnTo>
                    <a:pt x="3693716" y="2111263"/>
                  </a:lnTo>
                  <a:close/>
                  <a:moveTo>
                    <a:pt x="1898783" y="0"/>
                  </a:moveTo>
                  <a:lnTo>
                    <a:pt x="5016480" y="0"/>
                  </a:lnTo>
                  <a:lnTo>
                    <a:pt x="5016480" y="2297712"/>
                  </a:lnTo>
                  <a:lnTo>
                    <a:pt x="3864817" y="2297712"/>
                  </a:lnTo>
                  <a:lnTo>
                    <a:pt x="3864817" y="2624005"/>
                  </a:lnTo>
                  <a:lnTo>
                    <a:pt x="1424982" y="2624005"/>
                  </a:lnTo>
                  <a:lnTo>
                    <a:pt x="1424982" y="2433008"/>
                  </a:lnTo>
                  <a:lnTo>
                    <a:pt x="0" y="2433008"/>
                  </a:lnTo>
                  <a:lnTo>
                    <a:pt x="0" y="405400"/>
                  </a:lnTo>
                  <a:lnTo>
                    <a:pt x="1898783" y="405400"/>
                  </a:lnTo>
                  <a:close/>
                </a:path>
              </a:pathLst>
            </a:custGeom>
          </p:spPr>
        </p:pic>
        <p:sp>
          <p:nvSpPr>
            <p:cNvPr id="38" name="テキスト ボックス 37">
              <a:extLst>
                <a:ext uri="{FF2B5EF4-FFF2-40B4-BE49-F238E27FC236}">
                  <a16:creationId xmlns:a16="http://schemas.microsoft.com/office/drawing/2014/main" id="{EC4BFE57-C39A-2705-FFE9-F85DC34F73BB}"/>
                </a:ext>
              </a:extLst>
            </p:cNvPr>
            <p:cNvSpPr txBox="1"/>
            <p:nvPr/>
          </p:nvSpPr>
          <p:spPr>
            <a:xfrm>
              <a:off x="8598050" y="3308236"/>
              <a:ext cx="1099518" cy="228244"/>
            </a:xfrm>
            <a:prstGeom prst="rect">
              <a:avLst/>
            </a:prstGeom>
            <a:noFill/>
          </p:spPr>
          <p:txBody>
            <a:bodyPr wrap="none" rtlCol="0">
              <a:spAutoFit/>
            </a:bodyPr>
            <a:lstStyle/>
            <a:p>
              <a:r>
                <a:rPr lang="ja-JP" altLang="ja-JP" sz="700" dirty="0">
                  <a:latin typeface="Microsoft YaHei" panose="020B0503020204020204" pitchFamily="34" charset="-122"/>
                  <a:ea typeface="Microsoft YaHei" panose="020B0503020204020204" pitchFamily="34" charset="-122"/>
                </a:rPr>
                <a:t>microsoft Entra ID</a:t>
              </a:r>
              <a:endParaRPr kumimoji="1" lang="en-US" altLang="zh-CN" sz="700" dirty="0">
                <a:solidFill>
                  <a:srgbClr val="7030A0"/>
                </a:solidFill>
                <a:latin typeface="Microsoft YaHei" panose="020B0503020204020204" pitchFamily="34" charset="-122"/>
                <a:ea typeface="Microsoft YaHei" panose="020B0503020204020204" pitchFamily="34" charset="-122"/>
              </a:endParaRPr>
            </a:p>
          </p:txBody>
        </p:sp>
      </p:grpSp>
      <p:grpSp>
        <p:nvGrpSpPr>
          <p:cNvPr id="5" name="グループ化 4">
            <a:extLst>
              <a:ext uri="{FF2B5EF4-FFF2-40B4-BE49-F238E27FC236}">
                <a16:creationId xmlns:a16="http://schemas.microsoft.com/office/drawing/2014/main" id="{AB00E4A7-2978-42F1-1298-2B9A5E33E406}"/>
              </a:ext>
            </a:extLst>
          </p:cNvPr>
          <p:cNvGrpSpPr/>
          <p:nvPr/>
        </p:nvGrpSpPr>
        <p:grpSpPr>
          <a:xfrm>
            <a:off x="5565881" y="4235455"/>
            <a:ext cx="4840834" cy="2397126"/>
            <a:chOff x="5565881" y="4235455"/>
            <a:chExt cx="4840834" cy="2397126"/>
          </a:xfrm>
        </p:grpSpPr>
        <p:pic>
          <p:nvPicPr>
            <p:cNvPr id="25" name="図 24">
              <a:extLst>
                <a:ext uri="{FF2B5EF4-FFF2-40B4-BE49-F238E27FC236}">
                  <a16:creationId xmlns:a16="http://schemas.microsoft.com/office/drawing/2014/main" id="{278D3783-1707-D069-4408-1D33007746BE}"/>
                </a:ext>
              </a:extLst>
            </p:cNvPr>
            <p:cNvPicPr>
              <a:picLocks noChangeAspect="1"/>
            </p:cNvPicPr>
            <p:nvPr/>
          </p:nvPicPr>
          <p:blipFill>
            <a:blip r:embed="rId4">
              <a:clrChange>
                <a:clrFrom>
                  <a:srgbClr val="FFFFFF"/>
                </a:clrFrom>
                <a:clrTo>
                  <a:srgbClr val="FFFFFF">
                    <a:alpha val="0"/>
                  </a:srgbClr>
                </a:clrTo>
              </a:clrChange>
            </a:blip>
            <a:srcRect/>
            <a:stretch>
              <a:fillRect/>
            </a:stretch>
          </p:blipFill>
          <p:spPr>
            <a:xfrm>
              <a:off x="5565881" y="4235455"/>
              <a:ext cx="4840834" cy="2397126"/>
            </a:xfrm>
            <a:custGeom>
              <a:avLst/>
              <a:gdLst>
                <a:gd name="csX0" fmla="*/ 2770633 w 4242981"/>
                <a:gd name="csY0" fmla="*/ 0 h 2101076"/>
                <a:gd name="csX1" fmla="*/ 4242981 w 4242981"/>
                <a:gd name="csY1" fmla="*/ 0 h 2101076"/>
                <a:gd name="csX2" fmla="*/ 4242981 w 4242981"/>
                <a:gd name="csY2" fmla="*/ 2101076 h 2101076"/>
                <a:gd name="csX3" fmla="*/ 0 w 4242981"/>
                <a:gd name="csY3" fmla="*/ 2101076 h 2101076"/>
                <a:gd name="csX4" fmla="*/ 0 w 4242981"/>
                <a:gd name="csY4" fmla="*/ 295832 h 2101076"/>
                <a:gd name="csX5" fmla="*/ 2770633 w 4242981"/>
                <a:gd name="csY5" fmla="*/ 295832 h 2101076"/>
              </a:gdLst>
              <a:ahLst/>
              <a:cxnLst>
                <a:cxn ang="0">
                  <a:pos x="csX0" y="csY0"/>
                </a:cxn>
                <a:cxn ang="0">
                  <a:pos x="csX1" y="csY1"/>
                </a:cxn>
                <a:cxn ang="0">
                  <a:pos x="csX2" y="csY2"/>
                </a:cxn>
                <a:cxn ang="0">
                  <a:pos x="csX3" y="csY3"/>
                </a:cxn>
                <a:cxn ang="0">
                  <a:pos x="csX4" y="csY4"/>
                </a:cxn>
                <a:cxn ang="0">
                  <a:pos x="csX5" y="csY5"/>
                </a:cxn>
              </a:cxnLst>
              <a:rect l="l" t="t" r="r" b="b"/>
              <a:pathLst>
                <a:path w="4242981" h="2101076">
                  <a:moveTo>
                    <a:pt x="2770633" y="0"/>
                  </a:moveTo>
                  <a:lnTo>
                    <a:pt x="4242981" y="0"/>
                  </a:lnTo>
                  <a:lnTo>
                    <a:pt x="4242981" y="2101076"/>
                  </a:lnTo>
                  <a:lnTo>
                    <a:pt x="0" y="2101076"/>
                  </a:lnTo>
                  <a:lnTo>
                    <a:pt x="0" y="295832"/>
                  </a:lnTo>
                  <a:lnTo>
                    <a:pt x="2770633" y="295832"/>
                  </a:lnTo>
                  <a:close/>
                </a:path>
              </a:pathLst>
            </a:custGeom>
          </p:spPr>
        </p:pic>
        <p:sp>
          <p:nvSpPr>
            <p:cNvPr id="39" name="テキスト ボックス 38">
              <a:extLst>
                <a:ext uri="{FF2B5EF4-FFF2-40B4-BE49-F238E27FC236}">
                  <a16:creationId xmlns:a16="http://schemas.microsoft.com/office/drawing/2014/main" id="{DE1C97CF-F04F-3E15-EBAA-27B5B04E1259}"/>
                </a:ext>
              </a:extLst>
            </p:cNvPr>
            <p:cNvSpPr txBox="1"/>
            <p:nvPr/>
          </p:nvSpPr>
          <p:spPr>
            <a:xfrm>
              <a:off x="8016842" y="6167624"/>
              <a:ext cx="1099518" cy="351144"/>
            </a:xfrm>
            <a:prstGeom prst="rect">
              <a:avLst/>
            </a:prstGeom>
            <a:noFill/>
          </p:spPr>
          <p:txBody>
            <a:bodyPr wrap="none" rtlCol="0">
              <a:spAutoFit/>
            </a:bodyPr>
            <a:lstStyle/>
            <a:p>
              <a:pPr algn="ctr"/>
              <a:r>
                <a:rPr lang="en-US" altLang="ja-JP" sz="700" dirty="0">
                  <a:latin typeface="Microsoft YaHei" panose="020B0503020204020204" pitchFamily="34" charset="-122"/>
                  <a:ea typeface="Microsoft YaHei" panose="020B0503020204020204" pitchFamily="34" charset="-122"/>
                </a:rPr>
                <a:t>-or-</a:t>
              </a:r>
            </a:p>
            <a:p>
              <a:r>
                <a:rPr lang="ja-JP" altLang="ja-JP" sz="700" dirty="0">
                  <a:latin typeface="Microsoft YaHei" panose="020B0503020204020204" pitchFamily="34" charset="-122"/>
                  <a:ea typeface="Microsoft YaHei" panose="020B0503020204020204" pitchFamily="34" charset="-122"/>
                </a:rPr>
                <a:t>microsoft Entra ID</a:t>
              </a:r>
              <a:endParaRPr kumimoji="1" lang="en-US" altLang="zh-CN" sz="700" dirty="0">
                <a:solidFill>
                  <a:srgbClr val="7030A0"/>
                </a:solidFill>
                <a:latin typeface="Microsoft YaHei" panose="020B0503020204020204" pitchFamily="34" charset="-122"/>
                <a:ea typeface="Microsoft YaHei" panose="020B0503020204020204" pitchFamily="34" charset="-122"/>
              </a:endParaRPr>
            </a:p>
          </p:txBody>
        </p:sp>
      </p:grpSp>
      <p:grpSp>
        <p:nvGrpSpPr>
          <p:cNvPr id="44" name="グループ化 43">
            <a:extLst>
              <a:ext uri="{FF2B5EF4-FFF2-40B4-BE49-F238E27FC236}">
                <a16:creationId xmlns:a16="http://schemas.microsoft.com/office/drawing/2014/main" id="{F41F33C6-AC8C-A6A9-9A8D-B659A4D98EAC}"/>
              </a:ext>
            </a:extLst>
          </p:cNvPr>
          <p:cNvGrpSpPr/>
          <p:nvPr/>
        </p:nvGrpSpPr>
        <p:grpSpPr>
          <a:xfrm>
            <a:off x="4223911" y="3357000"/>
            <a:ext cx="752882" cy="144000"/>
            <a:chOff x="4630170" y="3013351"/>
            <a:chExt cx="752882" cy="191782"/>
          </a:xfrm>
          <a:solidFill>
            <a:srgbClr val="7030A0"/>
          </a:solidFill>
        </p:grpSpPr>
        <p:sp>
          <p:nvSpPr>
            <p:cNvPr id="40" name="矢印: 山形 39">
              <a:extLst>
                <a:ext uri="{FF2B5EF4-FFF2-40B4-BE49-F238E27FC236}">
                  <a16:creationId xmlns:a16="http://schemas.microsoft.com/office/drawing/2014/main" id="{AE52A4BC-BAFD-57A1-1E19-5B83E471E75E}"/>
                </a:ext>
              </a:extLst>
            </p:cNvPr>
            <p:cNvSpPr/>
            <p:nvPr/>
          </p:nvSpPr>
          <p:spPr>
            <a:xfrm>
              <a:off x="4630170" y="3013351"/>
              <a:ext cx="258212" cy="191782"/>
            </a:xfrm>
            <a:prstGeom prst="chevron">
              <a:avLst/>
            </a:prstGeom>
            <a:grp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2" name="矢印: 山形 41">
              <a:extLst>
                <a:ext uri="{FF2B5EF4-FFF2-40B4-BE49-F238E27FC236}">
                  <a16:creationId xmlns:a16="http://schemas.microsoft.com/office/drawing/2014/main" id="{8DEBA3A4-4F0C-705D-263F-B099C1C6D859}"/>
                </a:ext>
              </a:extLst>
            </p:cNvPr>
            <p:cNvSpPr/>
            <p:nvPr/>
          </p:nvSpPr>
          <p:spPr>
            <a:xfrm>
              <a:off x="4877505" y="3013351"/>
              <a:ext cx="258212" cy="191782"/>
            </a:xfrm>
            <a:prstGeom prst="chevron">
              <a:avLst/>
            </a:prstGeom>
            <a:grp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3" name="矢印: 山形 42">
              <a:extLst>
                <a:ext uri="{FF2B5EF4-FFF2-40B4-BE49-F238E27FC236}">
                  <a16:creationId xmlns:a16="http://schemas.microsoft.com/office/drawing/2014/main" id="{EE1D1C5E-A450-3AC7-34E4-AA7FC38CF140}"/>
                </a:ext>
              </a:extLst>
            </p:cNvPr>
            <p:cNvSpPr/>
            <p:nvPr/>
          </p:nvSpPr>
          <p:spPr>
            <a:xfrm>
              <a:off x="5124840" y="3013351"/>
              <a:ext cx="258212" cy="191782"/>
            </a:xfrm>
            <a:prstGeom prst="chevron">
              <a:avLst/>
            </a:prstGeom>
            <a:grp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sp>
        <p:nvSpPr>
          <p:cNvPr id="53" name="正方形/長方形 52">
            <a:extLst>
              <a:ext uri="{FF2B5EF4-FFF2-40B4-BE49-F238E27FC236}">
                <a16:creationId xmlns:a16="http://schemas.microsoft.com/office/drawing/2014/main" id="{9F794340-E008-EBB0-4F42-AC3ADCBCD6E7}"/>
              </a:ext>
            </a:extLst>
          </p:cNvPr>
          <p:cNvSpPr/>
          <p:nvPr/>
        </p:nvSpPr>
        <p:spPr>
          <a:xfrm>
            <a:off x="5456112" y="885524"/>
            <a:ext cx="5911324" cy="5881036"/>
          </a:xfrm>
          <a:prstGeom prst="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テキスト ボックス 54">
            <a:extLst>
              <a:ext uri="{FF2B5EF4-FFF2-40B4-BE49-F238E27FC236}">
                <a16:creationId xmlns:a16="http://schemas.microsoft.com/office/drawing/2014/main" id="{C81FF86D-3BC4-4C39-25B8-AA854F7DD429}"/>
              </a:ext>
            </a:extLst>
          </p:cNvPr>
          <p:cNvSpPr txBox="1">
            <a:spLocks/>
          </p:cNvSpPr>
          <p:nvPr/>
        </p:nvSpPr>
        <p:spPr>
          <a:xfrm>
            <a:off x="398025" y="4496732"/>
            <a:ext cx="5007420" cy="1169551"/>
          </a:xfrm>
          <a:prstGeom prst="rect">
            <a:avLst/>
          </a:prstGeom>
          <a:noFill/>
        </p:spPr>
        <p:txBody>
          <a:bodyPr wrap="square">
            <a:spAutoFit/>
          </a:bodyPr>
          <a:lstStyle/>
          <a:p>
            <a:pPr>
              <a:buNone/>
            </a:pPr>
            <a:r>
              <a:rPr lang="ja-JP" altLang="en-US" sz="1400" b="1" dirty="0"/>
              <a:t>参照資料：</a:t>
            </a:r>
            <a:endParaRPr lang="en-US" altLang="ja-JP" sz="1400" b="1" dirty="0"/>
          </a:p>
          <a:p>
            <a:pPr>
              <a:buNone/>
            </a:pPr>
            <a:r>
              <a:rPr lang="ja-JP" altLang="en-US" sz="1400" b="1" dirty="0">
                <a:hlinkClick r:id="rId5"/>
              </a:rPr>
              <a:t>①</a:t>
            </a:r>
            <a:r>
              <a:rPr lang="en-US" altLang="ja-JP" sz="1400" b="1" dirty="0">
                <a:hlinkClick r:id="rId5"/>
              </a:rPr>
              <a:t>Implementing claims authentication in AVEVA™ PI System</a:t>
            </a:r>
            <a:endParaRPr lang="en-US" altLang="ja-JP" sz="1400" b="1" dirty="0"/>
          </a:p>
          <a:p>
            <a:pPr>
              <a:buNone/>
            </a:pPr>
            <a:r>
              <a:rPr lang="ja-JP" altLang="en-US" sz="1400" b="1" dirty="0">
                <a:hlinkClick r:id="rId6"/>
              </a:rPr>
              <a:t>②</a:t>
            </a:r>
            <a:r>
              <a:rPr lang="en-US" altLang="ja-JP" sz="1400" b="1" dirty="0">
                <a:hlinkClick r:id="rId6"/>
              </a:rPr>
              <a:t> sign on with OpenID Connect</a:t>
            </a:r>
            <a:endParaRPr lang="en-US" altLang="ja-JP" sz="1400" b="1" dirty="0"/>
          </a:p>
          <a:p>
            <a:pPr>
              <a:buNone/>
            </a:pPr>
            <a:r>
              <a:rPr lang="ja-JP" altLang="en-US" sz="1400" b="1" dirty="0">
                <a:hlinkClick r:id="rId7"/>
              </a:rPr>
              <a:t>③</a:t>
            </a:r>
            <a:r>
              <a:rPr lang="en-US" altLang="ja-JP" sz="1400" b="1" dirty="0">
                <a:hlinkClick r:id="rId7"/>
              </a:rPr>
              <a:t> Map a role or client ID to a PI identity using OIDC</a:t>
            </a:r>
            <a:endParaRPr lang="ja-JP" altLang="ja-JP" sz="1400" dirty="0"/>
          </a:p>
        </p:txBody>
      </p:sp>
      <p:sp>
        <p:nvSpPr>
          <p:cNvPr id="3" name="テキスト ボックス 2">
            <a:extLst>
              <a:ext uri="{FF2B5EF4-FFF2-40B4-BE49-F238E27FC236}">
                <a16:creationId xmlns:a16="http://schemas.microsoft.com/office/drawing/2014/main" id="{06AD6BC6-8175-ADA0-CC96-DB9A54C187D7}"/>
              </a:ext>
            </a:extLst>
          </p:cNvPr>
          <p:cNvSpPr txBox="1"/>
          <p:nvPr/>
        </p:nvSpPr>
        <p:spPr>
          <a:xfrm>
            <a:off x="307374" y="794364"/>
            <a:ext cx="4858985" cy="276999"/>
          </a:xfrm>
          <a:prstGeom prst="rect">
            <a:avLst/>
          </a:prstGeom>
          <a:noFill/>
        </p:spPr>
        <p:txBody>
          <a:bodyPr wrap="square">
            <a:spAutoFit/>
          </a:bodyPr>
          <a:lstStyle/>
          <a:p>
            <a:pPr>
              <a:buNone/>
            </a:pPr>
            <a:r>
              <a:rPr lang="en-US" altLang="ja-JP" sz="1200" dirty="0">
                <a:latin typeface="+mn-ea"/>
              </a:rPr>
              <a:t>※AIM</a:t>
            </a:r>
            <a:r>
              <a:rPr lang="ja-JP" altLang="en-US" sz="1200" dirty="0">
                <a:latin typeface="+mn-ea"/>
              </a:rPr>
              <a:t>は</a:t>
            </a:r>
            <a:r>
              <a:rPr lang="en-US" altLang="ja-JP" sz="1200" dirty="0">
                <a:latin typeface="+mn-ea"/>
              </a:rPr>
              <a:t>:AVEVA</a:t>
            </a:r>
            <a:r>
              <a:rPr lang="ja-JP" altLang="en-US" sz="1200" dirty="0">
                <a:latin typeface="+mn-ea"/>
              </a:rPr>
              <a:t> </a:t>
            </a:r>
            <a:r>
              <a:rPr lang="en-US" altLang="ja-JP" sz="1200" dirty="0">
                <a:latin typeface="+mn-ea"/>
              </a:rPr>
              <a:t>Identify Manager</a:t>
            </a:r>
            <a:r>
              <a:rPr lang="ja-JP" altLang="en-US" sz="1200" dirty="0">
                <a:latin typeface="+mn-ea"/>
              </a:rPr>
              <a:t>で統一な代理認証管理システム</a:t>
            </a:r>
            <a:endParaRPr lang="ja-JP" altLang="ja-JP" sz="1200" dirty="0">
              <a:latin typeface="+mn-ea"/>
            </a:endParaRPr>
          </a:p>
        </p:txBody>
      </p:sp>
    </p:spTree>
    <p:extLst>
      <p:ext uri="{BB962C8B-B14F-4D97-AF65-F5344CB8AC3E}">
        <p14:creationId xmlns:p14="http://schemas.microsoft.com/office/powerpoint/2010/main" val="1196939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B22409B1-2040-B655-E8E5-CEB3EE73A930}"/>
              </a:ext>
            </a:extLst>
          </p:cNvPr>
          <p:cNvSpPr>
            <a:spLocks noGrp="1"/>
          </p:cNvSpPr>
          <p:nvPr>
            <p:ph type="body" sz="quarter" idx="16"/>
          </p:nvPr>
        </p:nvSpPr>
        <p:spPr>
          <a:xfrm>
            <a:off x="398024" y="347571"/>
            <a:ext cx="9891381" cy="432000"/>
          </a:xfrm>
        </p:spPr>
        <p:txBody>
          <a:bodyPr/>
          <a:lstStyle/>
          <a:p>
            <a:r>
              <a:rPr lang="en-US" altLang="ja-JP" dirty="0"/>
              <a:t>PI</a:t>
            </a:r>
            <a:r>
              <a:rPr lang="ja-JP" altLang="en-US" dirty="0"/>
              <a:t>認証系の進化（ユーザー角度：</a:t>
            </a:r>
            <a:r>
              <a:rPr lang="en-US" altLang="ja-JP" dirty="0"/>
              <a:t>1</a:t>
            </a:r>
            <a:r>
              <a:rPr lang="ja-JP" altLang="en-US" dirty="0"/>
              <a:t>つ</a:t>
            </a:r>
            <a:r>
              <a:rPr lang="en-US" altLang="ja-JP" dirty="0"/>
              <a:t>ID</a:t>
            </a:r>
            <a:r>
              <a:rPr lang="ja-JP" altLang="en-US" dirty="0"/>
              <a:t>でどこでも行ける）</a:t>
            </a:r>
          </a:p>
        </p:txBody>
      </p:sp>
      <p:pic>
        <p:nvPicPr>
          <p:cNvPr id="4" name="グラフィックス 3" descr="ユーザー 単色塗りつぶし">
            <a:extLst>
              <a:ext uri="{FF2B5EF4-FFF2-40B4-BE49-F238E27FC236}">
                <a16:creationId xmlns:a16="http://schemas.microsoft.com/office/drawing/2014/main" id="{DC4C23A8-D02B-A3FC-A023-48A14D779E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8776" y="3269912"/>
            <a:ext cx="612853" cy="612853"/>
          </a:xfrm>
          <a:prstGeom prst="rect">
            <a:avLst/>
          </a:prstGeom>
        </p:spPr>
      </p:pic>
      <p:pic>
        <p:nvPicPr>
          <p:cNvPr id="7" name="図 6">
            <a:extLst>
              <a:ext uri="{FF2B5EF4-FFF2-40B4-BE49-F238E27FC236}">
                <a16:creationId xmlns:a16="http://schemas.microsoft.com/office/drawing/2014/main" id="{5D0AAEFD-F5E4-F3EC-AAFB-2549DE72F943}"/>
              </a:ext>
            </a:extLst>
          </p:cNvPr>
          <p:cNvPicPr>
            <a:picLocks noChangeAspect="1"/>
          </p:cNvPicPr>
          <p:nvPr/>
        </p:nvPicPr>
        <p:blipFill>
          <a:blip r:embed="rId3">
            <a:grayscl/>
            <a:extLst>
              <a:ext uri="{BEBA8EAE-BF5A-486C-A8C5-ECC9F3942E4B}">
                <a14:imgProps xmlns:a14="http://schemas.microsoft.com/office/drawing/2010/main">
                  <a14:imgLayer r:embed="rId4">
                    <a14:imgEffect>
                      <a14:brightnessContrast contrast="-40000"/>
                    </a14:imgEffect>
                  </a14:imgLayer>
                </a14:imgProps>
              </a:ext>
            </a:extLst>
          </a:blip>
          <a:srcRect l="83063" t="49259" r="8847" b="40602"/>
          <a:stretch>
            <a:fillRect/>
          </a:stretch>
        </p:blipFill>
        <p:spPr>
          <a:xfrm>
            <a:off x="2032785" y="1920940"/>
            <a:ext cx="819150" cy="695325"/>
          </a:xfrm>
          <a:custGeom>
            <a:avLst/>
            <a:gdLst>
              <a:gd name="csX0" fmla="*/ 441325 w 819150"/>
              <a:gd name="csY0" fmla="*/ 0 h 695325"/>
              <a:gd name="csX1" fmla="*/ 819150 w 819150"/>
              <a:gd name="csY1" fmla="*/ 215900 h 695325"/>
              <a:gd name="csX2" fmla="*/ 815975 w 819150"/>
              <a:gd name="csY2" fmla="*/ 444500 h 695325"/>
              <a:gd name="csX3" fmla="*/ 758825 w 819150"/>
              <a:gd name="csY3" fmla="*/ 469900 h 695325"/>
              <a:gd name="csX4" fmla="*/ 768350 w 819150"/>
              <a:gd name="csY4" fmla="*/ 498475 h 695325"/>
              <a:gd name="csX5" fmla="*/ 774700 w 819150"/>
              <a:gd name="csY5" fmla="*/ 561975 h 695325"/>
              <a:gd name="csX6" fmla="*/ 755650 w 819150"/>
              <a:gd name="csY6" fmla="*/ 600075 h 695325"/>
              <a:gd name="csX7" fmla="*/ 720725 w 819150"/>
              <a:gd name="csY7" fmla="*/ 638175 h 695325"/>
              <a:gd name="csX8" fmla="*/ 644525 w 819150"/>
              <a:gd name="csY8" fmla="*/ 638175 h 695325"/>
              <a:gd name="csX9" fmla="*/ 606425 w 819150"/>
              <a:gd name="csY9" fmla="*/ 631825 h 695325"/>
              <a:gd name="csX10" fmla="*/ 558800 w 819150"/>
              <a:gd name="csY10" fmla="*/ 590550 h 695325"/>
              <a:gd name="csX11" fmla="*/ 511175 w 819150"/>
              <a:gd name="csY11" fmla="*/ 615950 h 695325"/>
              <a:gd name="csX12" fmla="*/ 498475 w 819150"/>
              <a:gd name="csY12" fmla="*/ 695325 h 695325"/>
              <a:gd name="csX13" fmla="*/ 415925 w 819150"/>
              <a:gd name="csY13" fmla="*/ 644525 h 695325"/>
              <a:gd name="csX14" fmla="*/ 368300 w 819150"/>
              <a:gd name="csY14" fmla="*/ 663575 h 695325"/>
              <a:gd name="csX15" fmla="*/ 355600 w 819150"/>
              <a:gd name="csY15" fmla="*/ 650875 h 695325"/>
              <a:gd name="csX16" fmla="*/ 339725 w 819150"/>
              <a:gd name="csY16" fmla="*/ 612775 h 695325"/>
              <a:gd name="csX17" fmla="*/ 85725 w 819150"/>
              <a:gd name="csY17" fmla="*/ 457200 h 695325"/>
              <a:gd name="csX18" fmla="*/ 34925 w 819150"/>
              <a:gd name="csY18" fmla="*/ 473075 h 695325"/>
              <a:gd name="csX19" fmla="*/ 9525 w 819150"/>
              <a:gd name="csY19" fmla="*/ 460375 h 695325"/>
              <a:gd name="csX20" fmla="*/ 25400 w 819150"/>
              <a:gd name="csY20" fmla="*/ 409575 h 695325"/>
              <a:gd name="csX21" fmla="*/ 0 w 819150"/>
              <a:gd name="csY21" fmla="*/ 403225 h 695325"/>
              <a:gd name="csX22" fmla="*/ 0 w 819150"/>
              <a:gd name="csY22" fmla="*/ 174625 h 695325"/>
              <a:gd name="csX23" fmla="*/ 63500 w 819150"/>
              <a:gd name="csY23" fmla="*/ 219075 h 69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819150" h="695325">
                <a:moveTo>
                  <a:pt x="441325" y="0"/>
                </a:moveTo>
                <a:lnTo>
                  <a:pt x="819150" y="215900"/>
                </a:lnTo>
                <a:cubicBezTo>
                  <a:pt x="818092" y="292100"/>
                  <a:pt x="817033" y="368300"/>
                  <a:pt x="815975" y="444500"/>
                </a:cubicBezTo>
                <a:lnTo>
                  <a:pt x="758825" y="469900"/>
                </a:lnTo>
                <a:lnTo>
                  <a:pt x="768350" y="498475"/>
                </a:lnTo>
                <a:lnTo>
                  <a:pt x="774700" y="561975"/>
                </a:lnTo>
                <a:lnTo>
                  <a:pt x="755650" y="600075"/>
                </a:lnTo>
                <a:lnTo>
                  <a:pt x="720725" y="638175"/>
                </a:lnTo>
                <a:lnTo>
                  <a:pt x="644525" y="638175"/>
                </a:lnTo>
                <a:lnTo>
                  <a:pt x="606425" y="631825"/>
                </a:lnTo>
                <a:lnTo>
                  <a:pt x="558800" y="590550"/>
                </a:lnTo>
                <a:lnTo>
                  <a:pt x="511175" y="615950"/>
                </a:lnTo>
                <a:lnTo>
                  <a:pt x="498475" y="695325"/>
                </a:lnTo>
                <a:lnTo>
                  <a:pt x="415925" y="644525"/>
                </a:lnTo>
                <a:lnTo>
                  <a:pt x="368300" y="663575"/>
                </a:lnTo>
                <a:lnTo>
                  <a:pt x="355600" y="650875"/>
                </a:lnTo>
                <a:lnTo>
                  <a:pt x="339725" y="612775"/>
                </a:lnTo>
                <a:lnTo>
                  <a:pt x="85725" y="457200"/>
                </a:lnTo>
                <a:lnTo>
                  <a:pt x="34925" y="473075"/>
                </a:lnTo>
                <a:lnTo>
                  <a:pt x="9525" y="460375"/>
                </a:lnTo>
                <a:lnTo>
                  <a:pt x="25400" y="409575"/>
                </a:lnTo>
                <a:lnTo>
                  <a:pt x="0" y="403225"/>
                </a:lnTo>
                <a:lnTo>
                  <a:pt x="0" y="174625"/>
                </a:lnTo>
                <a:lnTo>
                  <a:pt x="63500" y="219075"/>
                </a:lnTo>
                <a:close/>
              </a:path>
            </a:pathLst>
          </a:custGeom>
        </p:spPr>
      </p:pic>
      <p:sp>
        <p:nvSpPr>
          <p:cNvPr id="8" name="テキスト ボックス 7">
            <a:extLst>
              <a:ext uri="{FF2B5EF4-FFF2-40B4-BE49-F238E27FC236}">
                <a16:creationId xmlns:a16="http://schemas.microsoft.com/office/drawing/2014/main" id="{B6D68F82-7CF8-EAF7-AF18-72287DFB0BFB}"/>
              </a:ext>
            </a:extLst>
          </p:cNvPr>
          <p:cNvSpPr txBox="1"/>
          <p:nvPr/>
        </p:nvSpPr>
        <p:spPr>
          <a:xfrm>
            <a:off x="1897980" y="2644745"/>
            <a:ext cx="1088760" cy="276999"/>
          </a:xfrm>
          <a:prstGeom prst="rect">
            <a:avLst/>
          </a:prstGeom>
          <a:noFill/>
        </p:spPr>
        <p:txBody>
          <a:bodyPr wrap="none" rtlCol="0">
            <a:spAutoFit/>
          </a:bodyPr>
          <a:lstStyle/>
          <a:p>
            <a:r>
              <a:rPr kumimoji="1" lang="en-US" altLang="ja-JP" sz="1200" dirty="0"/>
              <a:t>Windows</a:t>
            </a:r>
            <a:r>
              <a:rPr lang="ja-JP" altLang="en-US" sz="1200" dirty="0"/>
              <a:t> </a:t>
            </a:r>
            <a:r>
              <a:rPr lang="en-US" altLang="ja-JP" sz="1200" dirty="0"/>
              <a:t>AD</a:t>
            </a:r>
            <a:endParaRPr kumimoji="1" lang="ja-JP" altLang="en-US" sz="1200" dirty="0"/>
          </a:p>
        </p:txBody>
      </p:sp>
      <p:pic>
        <p:nvPicPr>
          <p:cNvPr id="6148" name="Picture 4" descr="microsoft entra">
            <a:extLst>
              <a:ext uri="{FF2B5EF4-FFF2-40B4-BE49-F238E27FC236}">
                <a16:creationId xmlns:a16="http://schemas.microsoft.com/office/drawing/2014/main" id="{A491B42E-9470-E5EF-55D3-47A58C25DE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50655" y="2527736"/>
            <a:ext cx="2606818" cy="1303409"/>
          </a:xfrm>
          <a:prstGeom prst="rect">
            <a:avLst/>
          </a:prstGeom>
          <a:noFill/>
          <a:extLst>
            <a:ext uri="{909E8E84-426E-40DD-AFC4-6F175D3DCCD1}">
              <a14:hiddenFill xmlns:a14="http://schemas.microsoft.com/office/drawing/2010/main">
                <a:solidFill>
                  <a:srgbClr val="FFFFFF"/>
                </a:solidFill>
              </a14:hiddenFill>
            </a:ext>
          </a:extLst>
        </p:spPr>
      </p:pic>
      <p:sp>
        <p:nvSpPr>
          <p:cNvPr id="14" name="テキスト ボックス 13">
            <a:extLst>
              <a:ext uri="{FF2B5EF4-FFF2-40B4-BE49-F238E27FC236}">
                <a16:creationId xmlns:a16="http://schemas.microsoft.com/office/drawing/2014/main" id="{47492DB7-230C-B371-C5D9-99DE4634859D}"/>
              </a:ext>
            </a:extLst>
          </p:cNvPr>
          <p:cNvSpPr txBox="1"/>
          <p:nvPr/>
        </p:nvSpPr>
        <p:spPr>
          <a:xfrm>
            <a:off x="8526704" y="3647753"/>
            <a:ext cx="3499866" cy="2031325"/>
          </a:xfrm>
          <a:prstGeom prst="rect">
            <a:avLst/>
          </a:prstGeom>
          <a:noFill/>
        </p:spPr>
        <p:txBody>
          <a:bodyPr wrap="square">
            <a:spAutoFit/>
          </a:bodyPr>
          <a:lstStyle/>
          <a:p>
            <a:r>
              <a:rPr lang="en-US" altLang="ja-JP" sz="1400" b="1" dirty="0">
                <a:latin typeface="Microsoft YaHei" panose="020B0503020204020204" pitchFamily="34" charset="-122"/>
                <a:ea typeface="Microsoft YaHei" panose="020B0503020204020204" pitchFamily="34" charset="-122"/>
              </a:rPr>
              <a:t>Microsoft Entra ID</a:t>
            </a:r>
          </a:p>
          <a:p>
            <a:r>
              <a:rPr lang="en-US" altLang="ja-JP" sz="1400" dirty="0">
                <a:latin typeface="Microsoft YaHei" panose="020B0503020204020204" pitchFamily="34" charset="-122"/>
                <a:ea typeface="Microsoft YaHei" panose="020B0503020204020204" pitchFamily="34" charset="-122"/>
              </a:rPr>
              <a:t>       │</a:t>
            </a:r>
          </a:p>
          <a:p>
            <a:r>
              <a:rPr lang="en-US" altLang="ja-JP" sz="1400" dirty="0">
                <a:latin typeface="Microsoft YaHei" panose="020B0503020204020204" pitchFamily="34" charset="-122"/>
                <a:ea typeface="Microsoft YaHei" panose="020B0503020204020204" pitchFamily="34" charset="-122"/>
              </a:rPr>
              <a:t>       ├── Teams</a:t>
            </a:r>
          </a:p>
          <a:p>
            <a:r>
              <a:rPr lang="en-US" altLang="ja-JP" sz="1400" dirty="0">
                <a:latin typeface="Microsoft YaHei" panose="020B0503020204020204" pitchFamily="34" charset="-122"/>
                <a:ea typeface="Microsoft YaHei" panose="020B0503020204020204" pitchFamily="34" charset="-122"/>
              </a:rPr>
              <a:t>       ├── Outlook</a:t>
            </a:r>
          </a:p>
          <a:p>
            <a:r>
              <a:rPr lang="en-US" altLang="ja-JP" sz="1400" dirty="0">
                <a:latin typeface="Microsoft YaHei" panose="020B0503020204020204" pitchFamily="34" charset="-122"/>
                <a:ea typeface="Microsoft YaHei" panose="020B0503020204020204" pitchFamily="34" charset="-122"/>
              </a:rPr>
              <a:t>       ├── Office 365</a:t>
            </a:r>
          </a:p>
          <a:p>
            <a:r>
              <a:rPr lang="en-US" altLang="ja-JP" sz="1400" dirty="0">
                <a:latin typeface="Microsoft YaHei" panose="020B0503020204020204" pitchFamily="34" charset="-122"/>
                <a:ea typeface="Microsoft YaHei" panose="020B0503020204020204" pitchFamily="34" charset="-122"/>
              </a:rPr>
              <a:t>       ├── SharePoint</a:t>
            </a:r>
          </a:p>
          <a:p>
            <a:r>
              <a:rPr lang="en-US" altLang="ja-JP" sz="1400" dirty="0">
                <a:latin typeface="Microsoft YaHei" panose="020B0503020204020204" pitchFamily="34" charset="-122"/>
                <a:ea typeface="Microsoft YaHei" panose="020B0503020204020204" pitchFamily="34" charset="-122"/>
              </a:rPr>
              <a:t>       ├── Power BI</a:t>
            </a:r>
          </a:p>
          <a:p>
            <a:r>
              <a:rPr lang="en-US" altLang="ja-JP" sz="1400" dirty="0">
                <a:latin typeface="Microsoft YaHei" panose="020B0503020204020204" pitchFamily="34" charset="-122"/>
                <a:ea typeface="Microsoft YaHei" panose="020B0503020204020204" pitchFamily="34" charset="-122"/>
              </a:rPr>
              <a:t>       ├── </a:t>
            </a:r>
            <a:r>
              <a:rPr lang="en-US" altLang="ja-JP" sz="1400" dirty="0">
                <a:solidFill>
                  <a:srgbClr val="7030A0"/>
                </a:solidFill>
                <a:latin typeface="Microsoft YaHei" panose="020B0503020204020204" pitchFamily="34" charset="-122"/>
                <a:ea typeface="Microsoft YaHei" panose="020B0503020204020204" pitchFamily="34" charset="-122"/>
              </a:rPr>
              <a:t>PI Server/Vision</a:t>
            </a:r>
            <a:r>
              <a:rPr lang="ja-JP" altLang="en-US" sz="1400" dirty="0">
                <a:solidFill>
                  <a:srgbClr val="7030A0"/>
                </a:solidFill>
                <a:latin typeface="Microsoft YaHei" panose="020B0503020204020204" pitchFamily="34" charset="-122"/>
                <a:ea typeface="Microsoft YaHei" panose="020B0503020204020204" pitchFamily="34" charset="-122"/>
              </a:rPr>
              <a:t>（</a:t>
            </a:r>
            <a:r>
              <a:rPr lang="en-US" altLang="ja-JP" sz="1400" dirty="0">
                <a:solidFill>
                  <a:srgbClr val="7030A0"/>
                </a:solidFill>
                <a:latin typeface="Microsoft YaHei" panose="020B0503020204020204" pitchFamily="34" charset="-122"/>
                <a:ea typeface="Microsoft YaHei" panose="020B0503020204020204" pitchFamily="34" charset="-122"/>
              </a:rPr>
              <a:t>OIDC</a:t>
            </a:r>
            <a:r>
              <a:rPr lang="ja-JP" altLang="en-US" sz="1400" dirty="0">
                <a:solidFill>
                  <a:srgbClr val="7030A0"/>
                </a:solidFill>
                <a:latin typeface="Microsoft YaHei" panose="020B0503020204020204" pitchFamily="34" charset="-122"/>
                <a:ea typeface="Microsoft YaHei" panose="020B0503020204020204" pitchFamily="34" charset="-122"/>
              </a:rPr>
              <a:t>）</a:t>
            </a:r>
          </a:p>
          <a:p>
            <a:r>
              <a:rPr lang="ja-JP" altLang="en-US" sz="1400" dirty="0">
                <a:latin typeface="Microsoft YaHei" panose="020B0503020204020204" pitchFamily="34" charset="-122"/>
                <a:ea typeface="Microsoft YaHei" panose="020B0503020204020204" pitchFamily="34" charset="-122"/>
              </a:rPr>
              <a:t>       └── 他のシステム・アプリ</a:t>
            </a:r>
          </a:p>
        </p:txBody>
      </p:sp>
      <p:sp>
        <p:nvSpPr>
          <p:cNvPr id="15" name="テキスト ボックス 14">
            <a:extLst>
              <a:ext uri="{FF2B5EF4-FFF2-40B4-BE49-F238E27FC236}">
                <a16:creationId xmlns:a16="http://schemas.microsoft.com/office/drawing/2014/main" id="{AE6F71ED-CA42-8B38-ABC5-8E13613C50BA}"/>
              </a:ext>
            </a:extLst>
          </p:cNvPr>
          <p:cNvSpPr txBox="1"/>
          <p:nvPr/>
        </p:nvSpPr>
        <p:spPr>
          <a:xfrm>
            <a:off x="321879" y="3813982"/>
            <a:ext cx="800219" cy="276999"/>
          </a:xfrm>
          <a:prstGeom prst="rect">
            <a:avLst/>
          </a:prstGeom>
          <a:noFill/>
        </p:spPr>
        <p:txBody>
          <a:bodyPr wrap="none" rtlCol="0">
            <a:spAutoFit/>
          </a:bodyPr>
          <a:lstStyle/>
          <a:p>
            <a:r>
              <a:rPr kumimoji="1" lang="ja-JP" altLang="en-US" sz="1200" b="1" dirty="0"/>
              <a:t>ユーザー</a:t>
            </a:r>
          </a:p>
        </p:txBody>
      </p:sp>
      <p:pic>
        <p:nvPicPr>
          <p:cNvPr id="16" name="図 15">
            <a:extLst>
              <a:ext uri="{FF2B5EF4-FFF2-40B4-BE49-F238E27FC236}">
                <a16:creationId xmlns:a16="http://schemas.microsoft.com/office/drawing/2014/main" id="{BE402220-99BB-09CB-72D1-2AA4D2C4CDDC}"/>
              </a:ext>
            </a:extLst>
          </p:cNvPr>
          <p:cNvPicPr>
            <a:picLocks noChangeAspect="1"/>
          </p:cNvPicPr>
          <p:nvPr/>
        </p:nvPicPr>
        <p:blipFill>
          <a:blip r:embed="rId6">
            <a:grayscl/>
          </a:blip>
          <a:srcRect l="83063" t="49259" r="8847" b="40602"/>
          <a:stretch>
            <a:fillRect/>
          </a:stretch>
        </p:blipFill>
        <p:spPr>
          <a:xfrm>
            <a:off x="2032785" y="3228677"/>
            <a:ext cx="819150" cy="695325"/>
          </a:xfrm>
          <a:custGeom>
            <a:avLst/>
            <a:gdLst>
              <a:gd name="csX0" fmla="*/ 441325 w 819150"/>
              <a:gd name="csY0" fmla="*/ 0 h 695325"/>
              <a:gd name="csX1" fmla="*/ 819150 w 819150"/>
              <a:gd name="csY1" fmla="*/ 215900 h 695325"/>
              <a:gd name="csX2" fmla="*/ 815975 w 819150"/>
              <a:gd name="csY2" fmla="*/ 444500 h 695325"/>
              <a:gd name="csX3" fmla="*/ 758825 w 819150"/>
              <a:gd name="csY3" fmla="*/ 469900 h 695325"/>
              <a:gd name="csX4" fmla="*/ 768350 w 819150"/>
              <a:gd name="csY4" fmla="*/ 498475 h 695325"/>
              <a:gd name="csX5" fmla="*/ 774700 w 819150"/>
              <a:gd name="csY5" fmla="*/ 561975 h 695325"/>
              <a:gd name="csX6" fmla="*/ 755650 w 819150"/>
              <a:gd name="csY6" fmla="*/ 600075 h 695325"/>
              <a:gd name="csX7" fmla="*/ 720725 w 819150"/>
              <a:gd name="csY7" fmla="*/ 638175 h 695325"/>
              <a:gd name="csX8" fmla="*/ 644525 w 819150"/>
              <a:gd name="csY8" fmla="*/ 638175 h 695325"/>
              <a:gd name="csX9" fmla="*/ 606425 w 819150"/>
              <a:gd name="csY9" fmla="*/ 631825 h 695325"/>
              <a:gd name="csX10" fmla="*/ 558800 w 819150"/>
              <a:gd name="csY10" fmla="*/ 590550 h 695325"/>
              <a:gd name="csX11" fmla="*/ 511175 w 819150"/>
              <a:gd name="csY11" fmla="*/ 615950 h 695325"/>
              <a:gd name="csX12" fmla="*/ 498475 w 819150"/>
              <a:gd name="csY12" fmla="*/ 695325 h 695325"/>
              <a:gd name="csX13" fmla="*/ 415925 w 819150"/>
              <a:gd name="csY13" fmla="*/ 644525 h 695325"/>
              <a:gd name="csX14" fmla="*/ 368300 w 819150"/>
              <a:gd name="csY14" fmla="*/ 663575 h 695325"/>
              <a:gd name="csX15" fmla="*/ 355600 w 819150"/>
              <a:gd name="csY15" fmla="*/ 650875 h 695325"/>
              <a:gd name="csX16" fmla="*/ 339725 w 819150"/>
              <a:gd name="csY16" fmla="*/ 612775 h 695325"/>
              <a:gd name="csX17" fmla="*/ 85725 w 819150"/>
              <a:gd name="csY17" fmla="*/ 457200 h 695325"/>
              <a:gd name="csX18" fmla="*/ 34925 w 819150"/>
              <a:gd name="csY18" fmla="*/ 473075 h 695325"/>
              <a:gd name="csX19" fmla="*/ 9525 w 819150"/>
              <a:gd name="csY19" fmla="*/ 460375 h 695325"/>
              <a:gd name="csX20" fmla="*/ 25400 w 819150"/>
              <a:gd name="csY20" fmla="*/ 409575 h 695325"/>
              <a:gd name="csX21" fmla="*/ 0 w 819150"/>
              <a:gd name="csY21" fmla="*/ 403225 h 695325"/>
              <a:gd name="csX22" fmla="*/ 0 w 819150"/>
              <a:gd name="csY22" fmla="*/ 174625 h 695325"/>
              <a:gd name="csX23" fmla="*/ 63500 w 819150"/>
              <a:gd name="csY23" fmla="*/ 219075 h 69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819150" h="695325">
                <a:moveTo>
                  <a:pt x="441325" y="0"/>
                </a:moveTo>
                <a:lnTo>
                  <a:pt x="819150" y="215900"/>
                </a:lnTo>
                <a:cubicBezTo>
                  <a:pt x="818092" y="292100"/>
                  <a:pt x="817033" y="368300"/>
                  <a:pt x="815975" y="444500"/>
                </a:cubicBezTo>
                <a:lnTo>
                  <a:pt x="758825" y="469900"/>
                </a:lnTo>
                <a:lnTo>
                  <a:pt x="768350" y="498475"/>
                </a:lnTo>
                <a:lnTo>
                  <a:pt x="774700" y="561975"/>
                </a:lnTo>
                <a:lnTo>
                  <a:pt x="755650" y="600075"/>
                </a:lnTo>
                <a:lnTo>
                  <a:pt x="720725" y="638175"/>
                </a:lnTo>
                <a:lnTo>
                  <a:pt x="644525" y="638175"/>
                </a:lnTo>
                <a:lnTo>
                  <a:pt x="606425" y="631825"/>
                </a:lnTo>
                <a:lnTo>
                  <a:pt x="558800" y="590550"/>
                </a:lnTo>
                <a:lnTo>
                  <a:pt x="511175" y="615950"/>
                </a:lnTo>
                <a:lnTo>
                  <a:pt x="498475" y="695325"/>
                </a:lnTo>
                <a:lnTo>
                  <a:pt x="415925" y="644525"/>
                </a:lnTo>
                <a:lnTo>
                  <a:pt x="368300" y="663575"/>
                </a:lnTo>
                <a:lnTo>
                  <a:pt x="355600" y="650875"/>
                </a:lnTo>
                <a:lnTo>
                  <a:pt x="339725" y="612775"/>
                </a:lnTo>
                <a:lnTo>
                  <a:pt x="85725" y="457200"/>
                </a:lnTo>
                <a:lnTo>
                  <a:pt x="34925" y="473075"/>
                </a:lnTo>
                <a:lnTo>
                  <a:pt x="9525" y="460375"/>
                </a:lnTo>
                <a:lnTo>
                  <a:pt x="25400" y="409575"/>
                </a:lnTo>
                <a:lnTo>
                  <a:pt x="0" y="403225"/>
                </a:lnTo>
                <a:lnTo>
                  <a:pt x="0" y="174625"/>
                </a:lnTo>
                <a:lnTo>
                  <a:pt x="63500" y="219075"/>
                </a:lnTo>
                <a:close/>
              </a:path>
            </a:pathLst>
          </a:custGeom>
        </p:spPr>
      </p:pic>
      <p:sp>
        <p:nvSpPr>
          <p:cNvPr id="17" name="テキスト ボックス 16">
            <a:extLst>
              <a:ext uri="{FF2B5EF4-FFF2-40B4-BE49-F238E27FC236}">
                <a16:creationId xmlns:a16="http://schemas.microsoft.com/office/drawing/2014/main" id="{D3DD217A-6269-8098-2574-8A2739EE675D}"/>
              </a:ext>
            </a:extLst>
          </p:cNvPr>
          <p:cNvSpPr txBox="1"/>
          <p:nvPr/>
        </p:nvSpPr>
        <p:spPr>
          <a:xfrm>
            <a:off x="1897980" y="3952482"/>
            <a:ext cx="1475084" cy="276999"/>
          </a:xfrm>
          <a:prstGeom prst="rect">
            <a:avLst/>
          </a:prstGeom>
          <a:noFill/>
        </p:spPr>
        <p:txBody>
          <a:bodyPr wrap="none" rtlCol="0">
            <a:spAutoFit/>
          </a:bodyPr>
          <a:lstStyle/>
          <a:p>
            <a:r>
              <a:rPr kumimoji="1" lang="en-US" altLang="ja-JP" sz="1200" dirty="0"/>
              <a:t>A System Account</a:t>
            </a:r>
            <a:endParaRPr kumimoji="1" lang="ja-JP" altLang="en-US" sz="1200" dirty="0"/>
          </a:p>
        </p:txBody>
      </p:sp>
      <p:pic>
        <p:nvPicPr>
          <p:cNvPr id="18" name="図 17">
            <a:extLst>
              <a:ext uri="{FF2B5EF4-FFF2-40B4-BE49-F238E27FC236}">
                <a16:creationId xmlns:a16="http://schemas.microsoft.com/office/drawing/2014/main" id="{F76E9C39-B5CA-E058-FF61-255E6B8D1356}"/>
              </a:ext>
            </a:extLst>
          </p:cNvPr>
          <p:cNvPicPr>
            <a:picLocks noChangeAspect="1"/>
          </p:cNvPicPr>
          <p:nvPr/>
        </p:nvPicPr>
        <p:blipFill>
          <a:blip r:embed="rId6">
            <a:grayscl/>
          </a:blip>
          <a:srcRect l="83063" t="49259" r="8847" b="40602"/>
          <a:stretch>
            <a:fillRect/>
          </a:stretch>
        </p:blipFill>
        <p:spPr>
          <a:xfrm>
            <a:off x="2050168" y="4564894"/>
            <a:ext cx="819150" cy="695325"/>
          </a:xfrm>
          <a:custGeom>
            <a:avLst/>
            <a:gdLst>
              <a:gd name="csX0" fmla="*/ 441325 w 819150"/>
              <a:gd name="csY0" fmla="*/ 0 h 695325"/>
              <a:gd name="csX1" fmla="*/ 819150 w 819150"/>
              <a:gd name="csY1" fmla="*/ 215900 h 695325"/>
              <a:gd name="csX2" fmla="*/ 815975 w 819150"/>
              <a:gd name="csY2" fmla="*/ 444500 h 695325"/>
              <a:gd name="csX3" fmla="*/ 758825 w 819150"/>
              <a:gd name="csY3" fmla="*/ 469900 h 695325"/>
              <a:gd name="csX4" fmla="*/ 768350 w 819150"/>
              <a:gd name="csY4" fmla="*/ 498475 h 695325"/>
              <a:gd name="csX5" fmla="*/ 774700 w 819150"/>
              <a:gd name="csY5" fmla="*/ 561975 h 695325"/>
              <a:gd name="csX6" fmla="*/ 755650 w 819150"/>
              <a:gd name="csY6" fmla="*/ 600075 h 695325"/>
              <a:gd name="csX7" fmla="*/ 720725 w 819150"/>
              <a:gd name="csY7" fmla="*/ 638175 h 695325"/>
              <a:gd name="csX8" fmla="*/ 644525 w 819150"/>
              <a:gd name="csY8" fmla="*/ 638175 h 695325"/>
              <a:gd name="csX9" fmla="*/ 606425 w 819150"/>
              <a:gd name="csY9" fmla="*/ 631825 h 695325"/>
              <a:gd name="csX10" fmla="*/ 558800 w 819150"/>
              <a:gd name="csY10" fmla="*/ 590550 h 695325"/>
              <a:gd name="csX11" fmla="*/ 511175 w 819150"/>
              <a:gd name="csY11" fmla="*/ 615950 h 695325"/>
              <a:gd name="csX12" fmla="*/ 498475 w 819150"/>
              <a:gd name="csY12" fmla="*/ 695325 h 695325"/>
              <a:gd name="csX13" fmla="*/ 415925 w 819150"/>
              <a:gd name="csY13" fmla="*/ 644525 h 695325"/>
              <a:gd name="csX14" fmla="*/ 368300 w 819150"/>
              <a:gd name="csY14" fmla="*/ 663575 h 695325"/>
              <a:gd name="csX15" fmla="*/ 355600 w 819150"/>
              <a:gd name="csY15" fmla="*/ 650875 h 695325"/>
              <a:gd name="csX16" fmla="*/ 339725 w 819150"/>
              <a:gd name="csY16" fmla="*/ 612775 h 695325"/>
              <a:gd name="csX17" fmla="*/ 85725 w 819150"/>
              <a:gd name="csY17" fmla="*/ 457200 h 695325"/>
              <a:gd name="csX18" fmla="*/ 34925 w 819150"/>
              <a:gd name="csY18" fmla="*/ 473075 h 695325"/>
              <a:gd name="csX19" fmla="*/ 9525 w 819150"/>
              <a:gd name="csY19" fmla="*/ 460375 h 695325"/>
              <a:gd name="csX20" fmla="*/ 25400 w 819150"/>
              <a:gd name="csY20" fmla="*/ 409575 h 695325"/>
              <a:gd name="csX21" fmla="*/ 0 w 819150"/>
              <a:gd name="csY21" fmla="*/ 403225 h 695325"/>
              <a:gd name="csX22" fmla="*/ 0 w 819150"/>
              <a:gd name="csY22" fmla="*/ 174625 h 695325"/>
              <a:gd name="csX23" fmla="*/ 63500 w 819150"/>
              <a:gd name="csY23" fmla="*/ 219075 h 69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819150" h="695325">
                <a:moveTo>
                  <a:pt x="441325" y="0"/>
                </a:moveTo>
                <a:lnTo>
                  <a:pt x="819150" y="215900"/>
                </a:lnTo>
                <a:cubicBezTo>
                  <a:pt x="818092" y="292100"/>
                  <a:pt x="817033" y="368300"/>
                  <a:pt x="815975" y="444500"/>
                </a:cubicBezTo>
                <a:lnTo>
                  <a:pt x="758825" y="469900"/>
                </a:lnTo>
                <a:lnTo>
                  <a:pt x="768350" y="498475"/>
                </a:lnTo>
                <a:lnTo>
                  <a:pt x="774700" y="561975"/>
                </a:lnTo>
                <a:lnTo>
                  <a:pt x="755650" y="600075"/>
                </a:lnTo>
                <a:lnTo>
                  <a:pt x="720725" y="638175"/>
                </a:lnTo>
                <a:lnTo>
                  <a:pt x="644525" y="638175"/>
                </a:lnTo>
                <a:lnTo>
                  <a:pt x="606425" y="631825"/>
                </a:lnTo>
                <a:lnTo>
                  <a:pt x="558800" y="590550"/>
                </a:lnTo>
                <a:lnTo>
                  <a:pt x="511175" y="615950"/>
                </a:lnTo>
                <a:lnTo>
                  <a:pt x="498475" y="695325"/>
                </a:lnTo>
                <a:lnTo>
                  <a:pt x="415925" y="644525"/>
                </a:lnTo>
                <a:lnTo>
                  <a:pt x="368300" y="663575"/>
                </a:lnTo>
                <a:lnTo>
                  <a:pt x="355600" y="650875"/>
                </a:lnTo>
                <a:lnTo>
                  <a:pt x="339725" y="612775"/>
                </a:lnTo>
                <a:lnTo>
                  <a:pt x="85725" y="457200"/>
                </a:lnTo>
                <a:lnTo>
                  <a:pt x="34925" y="473075"/>
                </a:lnTo>
                <a:lnTo>
                  <a:pt x="9525" y="460375"/>
                </a:lnTo>
                <a:lnTo>
                  <a:pt x="25400" y="409575"/>
                </a:lnTo>
                <a:lnTo>
                  <a:pt x="0" y="403225"/>
                </a:lnTo>
                <a:lnTo>
                  <a:pt x="0" y="174625"/>
                </a:lnTo>
                <a:lnTo>
                  <a:pt x="63500" y="219075"/>
                </a:lnTo>
                <a:close/>
              </a:path>
            </a:pathLst>
          </a:custGeom>
        </p:spPr>
      </p:pic>
      <p:sp>
        <p:nvSpPr>
          <p:cNvPr id="19" name="テキスト ボックス 18">
            <a:extLst>
              <a:ext uri="{FF2B5EF4-FFF2-40B4-BE49-F238E27FC236}">
                <a16:creationId xmlns:a16="http://schemas.microsoft.com/office/drawing/2014/main" id="{DDF3E8A0-FB4E-3B10-909B-79B01D5DAFB5}"/>
              </a:ext>
            </a:extLst>
          </p:cNvPr>
          <p:cNvSpPr txBox="1"/>
          <p:nvPr/>
        </p:nvSpPr>
        <p:spPr>
          <a:xfrm>
            <a:off x="1915363" y="5288699"/>
            <a:ext cx="1479892" cy="276999"/>
          </a:xfrm>
          <a:prstGeom prst="rect">
            <a:avLst/>
          </a:prstGeom>
          <a:noFill/>
        </p:spPr>
        <p:txBody>
          <a:bodyPr wrap="none" rtlCol="0">
            <a:spAutoFit/>
          </a:bodyPr>
          <a:lstStyle/>
          <a:p>
            <a:r>
              <a:rPr kumimoji="1" lang="en-US" altLang="ja-JP" sz="1200" dirty="0"/>
              <a:t>B System Account</a:t>
            </a:r>
            <a:endParaRPr kumimoji="1" lang="ja-JP" altLang="en-US" sz="1200" dirty="0"/>
          </a:p>
        </p:txBody>
      </p:sp>
      <p:pic>
        <p:nvPicPr>
          <p:cNvPr id="20" name="グラフィックス 19" descr="ユーザー 単色塗りつぶし">
            <a:extLst>
              <a:ext uri="{FF2B5EF4-FFF2-40B4-BE49-F238E27FC236}">
                <a16:creationId xmlns:a16="http://schemas.microsoft.com/office/drawing/2014/main" id="{E15FE020-AD99-9A7A-0B42-95B195C6982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075197" y="3147236"/>
            <a:ext cx="612853" cy="612853"/>
          </a:xfrm>
          <a:prstGeom prst="rect">
            <a:avLst/>
          </a:prstGeom>
        </p:spPr>
      </p:pic>
      <p:sp>
        <p:nvSpPr>
          <p:cNvPr id="21" name="テキスト ボックス 20">
            <a:extLst>
              <a:ext uri="{FF2B5EF4-FFF2-40B4-BE49-F238E27FC236}">
                <a16:creationId xmlns:a16="http://schemas.microsoft.com/office/drawing/2014/main" id="{5BE9C0DE-5B9F-5FAB-7EB7-627BD31BAAD3}"/>
              </a:ext>
            </a:extLst>
          </p:cNvPr>
          <p:cNvSpPr txBox="1"/>
          <p:nvPr/>
        </p:nvSpPr>
        <p:spPr>
          <a:xfrm>
            <a:off x="6998300" y="3691306"/>
            <a:ext cx="800219" cy="276999"/>
          </a:xfrm>
          <a:prstGeom prst="rect">
            <a:avLst/>
          </a:prstGeom>
          <a:noFill/>
        </p:spPr>
        <p:txBody>
          <a:bodyPr wrap="none" rtlCol="0">
            <a:spAutoFit/>
          </a:bodyPr>
          <a:lstStyle/>
          <a:p>
            <a:r>
              <a:rPr kumimoji="1" lang="ja-JP" altLang="en-US" sz="1200" b="1" dirty="0"/>
              <a:t>ユーザー</a:t>
            </a:r>
          </a:p>
        </p:txBody>
      </p:sp>
      <p:cxnSp>
        <p:nvCxnSpPr>
          <p:cNvPr id="22" name="直線矢印コネクタ 21">
            <a:extLst>
              <a:ext uri="{FF2B5EF4-FFF2-40B4-BE49-F238E27FC236}">
                <a16:creationId xmlns:a16="http://schemas.microsoft.com/office/drawing/2014/main" id="{13825F49-0DA9-A420-0CFE-55D9ED6A3E72}"/>
              </a:ext>
            </a:extLst>
          </p:cNvPr>
          <p:cNvCxnSpPr>
            <a:cxnSpLocks/>
          </p:cNvCxnSpPr>
          <p:nvPr/>
        </p:nvCxnSpPr>
        <p:spPr>
          <a:xfrm>
            <a:off x="7688050" y="3454565"/>
            <a:ext cx="637773" cy="0"/>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直線矢印コネクタ 23">
            <a:extLst>
              <a:ext uri="{FF2B5EF4-FFF2-40B4-BE49-F238E27FC236}">
                <a16:creationId xmlns:a16="http://schemas.microsoft.com/office/drawing/2014/main" id="{89D8FCB5-64B2-ACCB-DDE1-D89BFEBF2303}"/>
              </a:ext>
            </a:extLst>
          </p:cNvPr>
          <p:cNvCxnSpPr>
            <a:cxnSpLocks/>
            <a:endCxn id="8" idx="1"/>
          </p:cNvCxnSpPr>
          <p:nvPr/>
        </p:nvCxnSpPr>
        <p:spPr>
          <a:xfrm flipV="1">
            <a:off x="1122098" y="2783245"/>
            <a:ext cx="775882" cy="747957"/>
          </a:xfrm>
          <a:prstGeom prst="straightConnector1">
            <a:avLst/>
          </a:prstGeom>
          <a:ln>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6" name="直線矢印コネクタ 25">
            <a:extLst>
              <a:ext uri="{FF2B5EF4-FFF2-40B4-BE49-F238E27FC236}">
                <a16:creationId xmlns:a16="http://schemas.microsoft.com/office/drawing/2014/main" id="{5F2322B5-2A79-F12C-29A4-42A1CEAD3CD6}"/>
              </a:ext>
            </a:extLst>
          </p:cNvPr>
          <p:cNvCxnSpPr>
            <a:cxnSpLocks/>
          </p:cNvCxnSpPr>
          <p:nvPr/>
        </p:nvCxnSpPr>
        <p:spPr>
          <a:xfrm>
            <a:off x="1108503" y="3647753"/>
            <a:ext cx="803072" cy="0"/>
          </a:xfrm>
          <a:prstGeom prst="straightConnector1">
            <a:avLst/>
          </a:prstGeom>
          <a:ln>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29" name="図 28">
            <a:extLst>
              <a:ext uri="{FF2B5EF4-FFF2-40B4-BE49-F238E27FC236}">
                <a16:creationId xmlns:a16="http://schemas.microsoft.com/office/drawing/2014/main" id="{B6B57ABE-637A-C00B-BF70-B6477C6D61D7}"/>
              </a:ext>
            </a:extLst>
          </p:cNvPr>
          <p:cNvPicPr>
            <a:picLocks noChangeAspect="1"/>
          </p:cNvPicPr>
          <p:nvPr/>
        </p:nvPicPr>
        <p:blipFill>
          <a:blip r:embed="rId8">
            <a:clrChange>
              <a:clrFrom>
                <a:srgbClr val="FFFFFF"/>
              </a:clrFrom>
              <a:clrTo>
                <a:srgbClr val="FFFFFF">
                  <a:alpha val="0"/>
                </a:srgbClr>
              </a:clrTo>
            </a:clrChange>
            <a:grayscl/>
            <a:extLst>
              <a:ext uri="{BEBA8EAE-BF5A-486C-A8C5-ECC9F3942E4B}">
                <a14:imgProps xmlns:a14="http://schemas.microsoft.com/office/drawing/2010/main">
                  <a14:imgLayer r:embed="rId9">
                    <a14:imgEffect>
                      <a14:colorTemperature colorTemp="4700"/>
                    </a14:imgEffect>
                    <a14:imgEffect>
                      <a14:brightnessContrast bright="40000" contrast="40000"/>
                    </a14:imgEffect>
                  </a14:imgLayer>
                </a14:imgProps>
              </a:ext>
            </a:extLst>
          </a:blip>
          <a:srcRect l="30276" t="70031" r="55506"/>
          <a:stretch>
            <a:fillRect/>
          </a:stretch>
        </p:blipFill>
        <p:spPr>
          <a:xfrm>
            <a:off x="3847118" y="1884021"/>
            <a:ext cx="932749" cy="1028416"/>
          </a:xfrm>
          <a:custGeom>
            <a:avLst/>
            <a:gdLst>
              <a:gd name="csX0" fmla="*/ 0 w 713232"/>
              <a:gd name="csY0" fmla="*/ 0 h 786384"/>
              <a:gd name="csX1" fmla="*/ 713232 w 713232"/>
              <a:gd name="csY1" fmla="*/ 0 h 786384"/>
              <a:gd name="csX2" fmla="*/ 713232 w 713232"/>
              <a:gd name="csY2" fmla="*/ 786384 h 786384"/>
              <a:gd name="csX3" fmla="*/ 0 w 713232"/>
              <a:gd name="csY3" fmla="*/ 786384 h 786384"/>
            </a:gdLst>
            <a:ahLst/>
            <a:cxnLst>
              <a:cxn ang="0">
                <a:pos x="csX0" y="csY0"/>
              </a:cxn>
              <a:cxn ang="0">
                <a:pos x="csX1" y="csY1"/>
              </a:cxn>
              <a:cxn ang="0">
                <a:pos x="csX2" y="csY2"/>
              </a:cxn>
              <a:cxn ang="0">
                <a:pos x="csX3" y="csY3"/>
              </a:cxn>
            </a:cxnLst>
            <a:rect l="l" t="t" r="r" b="b"/>
            <a:pathLst>
              <a:path w="713232" h="786384">
                <a:moveTo>
                  <a:pt x="0" y="0"/>
                </a:moveTo>
                <a:lnTo>
                  <a:pt x="713232" y="0"/>
                </a:lnTo>
                <a:lnTo>
                  <a:pt x="713232" y="786384"/>
                </a:lnTo>
                <a:lnTo>
                  <a:pt x="0" y="786384"/>
                </a:lnTo>
                <a:close/>
              </a:path>
            </a:pathLst>
          </a:custGeom>
        </p:spPr>
      </p:pic>
      <p:cxnSp>
        <p:nvCxnSpPr>
          <p:cNvPr id="30" name="直線矢印コネクタ 29">
            <a:extLst>
              <a:ext uri="{FF2B5EF4-FFF2-40B4-BE49-F238E27FC236}">
                <a16:creationId xmlns:a16="http://schemas.microsoft.com/office/drawing/2014/main" id="{15F45370-EF46-0D72-191A-96BD5CE8AE6B}"/>
              </a:ext>
            </a:extLst>
          </p:cNvPr>
          <p:cNvCxnSpPr>
            <a:cxnSpLocks/>
          </p:cNvCxnSpPr>
          <p:nvPr/>
        </p:nvCxnSpPr>
        <p:spPr>
          <a:xfrm>
            <a:off x="2971528" y="2268602"/>
            <a:ext cx="803072" cy="0"/>
          </a:xfrm>
          <a:prstGeom prst="straightConnector1">
            <a:avLst/>
          </a:prstGeom>
          <a:ln>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1" name="直線矢印コネクタ 30">
            <a:extLst>
              <a:ext uri="{FF2B5EF4-FFF2-40B4-BE49-F238E27FC236}">
                <a16:creationId xmlns:a16="http://schemas.microsoft.com/office/drawing/2014/main" id="{E97970B5-ECBF-59B8-E65F-AB9F59FF0A5B}"/>
              </a:ext>
            </a:extLst>
          </p:cNvPr>
          <p:cNvCxnSpPr>
            <a:cxnSpLocks/>
            <a:stCxn id="15" idx="3"/>
          </p:cNvCxnSpPr>
          <p:nvPr/>
        </p:nvCxnSpPr>
        <p:spPr>
          <a:xfrm>
            <a:off x="1122098" y="3952482"/>
            <a:ext cx="775882" cy="690360"/>
          </a:xfrm>
          <a:prstGeom prst="straightConnector1">
            <a:avLst/>
          </a:prstGeom>
          <a:ln>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4" name="テキスト ボックス 33">
            <a:extLst>
              <a:ext uri="{FF2B5EF4-FFF2-40B4-BE49-F238E27FC236}">
                <a16:creationId xmlns:a16="http://schemas.microsoft.com/office/drawing/2014/main" id="{32B43BD8-D538-D35E-EBD2-C13252036715}"/>
              </a:ext>
            </a:extLst>
          </p:cNvPr>
          <p:cNvSpPr txBox="1"/>
          <p:nvPr/>
        </p:nvSpPr>
        <p:spPr>
          <a:xfrm>
            <a:off x="1897980" y="1306940"/>
            <a:ext cx="2297424" cy="338554"/>
          </a:xfrm>
          <a:prstGeom prst="rect">
            <a:avLst/>
          </a:prstGeom>
          <a:noFill/>
        </p:spPr>
        <p:txBody>
          <a:bodyPr wrap="none" rtlCol="0">
            <a:spAutoFit/>
          </a:bodyPr>
          <a:lstStyle/>
          <a:p>
            <a:r>
              <a:rPr lang="ja-JP" altLang="en-US" sz="1600" b="1" dirty="0"/>
              <a:t>（旧）</a:t>
            </a:r>
            <a:r>
              <a:rPr lang="en-US" altLang="ja-JP" sz="1600" b="1" dirty="0"/>
              <a:t>Account</a:t>
            </a:r>
            <a:r>
              <a:rPr lang="ja-JP" altLang="en-US" sz="1600" b="1" dirty="0"/>
              <a:t>が多い</a:t>
            </a:r>
            <a:endParaRPr kumimoji="1" lang="en-US" altLang="zh-CN" sz="1600" b="1" dirty="0"/>
          </a:p>
        </p:txBody>
      </p:sp>
      <p:sp>
        <p:nvSpPr>
          <p:cNvPr id="35" name="テキスト ボックス 34">
            <a:extLst>
              <a:ext uri="{FF2B5EF4-FFF2-40B4-BE49-F238E27FC236}">
                <a16:creationId xmlns:a16="http://schemas.microsoft.com/office/drawing/2014/main" id="{45A5FC5E-FAB9-2D3C-9DE9-6B52D45ACCC2}"/>
              </a:ext>
            </a:extLst>
          </p:cNvPr>
          <p:cNvSpPr txBox="1"/>
          <p:nvPr/>
        </p:nvSpPr>
        <p:spPr>
          <a:xfrm>
            <a:off x="7889123" y="1261164"/>
            <a:ext cx="2209259" cy="338554"/>
          </a:xfrm>
          <a:prstGeom prst="rect">
            <a:avLst/>
          </a:prstGeom>
          <a:noFill/>
        </p:spPr>
        <p:txBody>
          <a:bodyPr wrap="none" rtlCol="0">
            <a:spAutoFit/>
          </a:bodyPr>
          <a:lstStyle/>
          <a:p>
            <a:r>
              <a:rPr lang="ja-JP" altLang="en-US" sz="1600" b="1" dirty="0">
                <a:solidFill>
                  <a:srgbClr val="7030A0"/>
                </a:solidFill>
              </a:rPr>
              <a:t>（新） </a:t>
            </a:r>
            <a:r>
              <a:rPr lang="en-US" altLang="ja-JP" sz="1600" b="1" dirty="0">
                <a:solidFill>
                  <a:srgbClr val="7030A0"/>
                </a:solidFill>
              </a:rPr>
              <a:t>Account</a:t>
            </a:r>
            <a:r>
              <a:rPr lang="ja-JP" altLang="en-US" sz="1600" b="1" dirty="0">
                <a:solidFill>
                  <a:srgbClr val="7030A0"/>
                </a:solidFill>
              </a:rPr>
              <a:t>が</a:t>
            </a:r>
            <a:r>
              <a:rPr lang="en-US" altLang="ja-JP" sz="1600" b="1" dirty="0">
                <a:solidFill>
                  <a:srgbClr val="7030A0"/>
                </a:solidFill>
              </a:rPr>
              <a:t>1</a:t>
            </a:r>
            <a:r>
              <a:rPr lang="ja-JP" altLang="en-US" sz="1600" b="1" dirty="0">
                <a:solidFill>
                  <a:srgbClr val="7030A0"/>
                </a:solidFill>
              </a:rPr>
              <a:t>つ</a:t>
            </a:r>
            <a:endParaRPr kumimoji="1" lang="en-US" altLang="zh-CN" sz="1600" b="1" dirty="0">
              <a:solidFill>
                <a:srgbClr val="7030A0"/>
              </a:solidFill>
            </a:endParaRPr>
          </a:p>
        </p:txBody>
      </p:sp>
      <p:grpSp>
        <p:nvGrpSpPr>
          <p:cNvPr id="36" name="グループ化 35">
            <a:extLst>
              <a:ext uri="{FF2B5EF4-FFF2-40B4-BE49-F238E27FC236}">
                <a16:creationId xmlns:a16="http://schemas.microsoft.com/office/drawing/2014/main" id="{E99F36A3-CB3A-0260-6A53-BE14FA6E8A2B}"/>
              </a:ext>
            </a:extLst>
          </p:cNvPr>
          <p:cNvGrpSpPr/>
          <p:nvPr/>
        </p:nvGrpSpPr>
        <p:grpSpPr>
          <a:xfrm>
            <a:off x="5334376" y="3852002"/>
            <a:ext cx="752882" cy="144000"/>
            <a:chOff x="4630170" y="3013351"/>
            <a:chExt cx="752882" cy="191782"/>
          </a:xfrm>
          <a:solidFill>
            <a:srgbClr val="7030A0"/>
          </a:solidFill>
        </p:grpSpPr>
        <p:sp>
          <p:nvSpPr>
            <p:cNvPr id="37" name="矢印: 山形 36">
              <a:extLst>
                <a:ext uri="{FF2B5EF4-FFF2-40B4-BE49-F238E27FC236}">
                  <a16:creationId xmlns:a16="http://schemas.microsoft.com/office/drawing/2014/main" id="{E21D80B8-3C4B-73B1-B651-CBAA45166171}"/>
                </a:ext>
              </a:extLst>
            </p:cNvPr>
            <p:cNvSpPr/>
            <p:nvPr/>
          </p:nvSpPr>
          <p:spPr>
            <a:xfrm>
              <a:off x="4630170" y="3013351"/>
              <a:ext cx="258212" cy="191782"/>
            </a:xfrm>
            <a:prstGeom prst="chevron">
              <a:avLst/>
            </a:prstGeom>
            <a:grp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9" name="矢印: 山形 38">
              <a:extLst>
                <a:ext uri="{FF2B5EF4-FFF2-40B4-BE49-F238E27FC236}">
                  <a16:creationId xmlns:a16="http://schemas.microsoft.com/office/drawing/2014/main" id="{696ECB73-3785-DB4F-7547-2AC862B47C02}"/>
                </a:ext>
              </a:extLst>
            </p:cNvPr>
            <p:cNvSpPr/>
            <p:nvPr/>
          </p:nvSpPr>
          <p:spPr>
            <a:xfrm>
              <a:off x="4877505" y="3013351"/>
              <a:ext cx="258212" cy="191782"/>
            </a:xfrm>
            <a:prstGeom prst="chevron">
              <a:avLst/>
            </a:prstGeom>
            <a:grp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0" name="矢印: 山形 39">
              <a:extLst>
                <a:ext uri="{FF2B5EF4-FFF2-40B4-BE49-F238E27FC236}">
                  <a16:creationId xmlns:a16="http://schemas.microsoft.com/office/drawing/2014/main" id="{678CD093-5E80-5CF6-66A9-802F9991D1B7}"/>
                </a:ext>
              </a:extLst>
            </p:cNvPr>
            <p:cNvSpPr/>
            <p:nvPr/>
          </p:nvSpPr>
          <p:spPr>
            <a:xfrm>
              <a:off x="5124840" y="3013351"/>
              <a:ext cx="258212" cy="191782"/>
            </a:xfrm>
            <a:prstGeom prst="chevron">
              <a:avLst/>
            </a:prstGeom>
            <a:grp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sp>
        <p:nvSpPr>
          <p:cNvPr id="41" name="正方形/長方形 40">
            <a:extLst>
              <a:ext uri="{FF2B5EF4-FFF2-40B4-BE49-F238E27FC236}">
                <a16:creationId xmlns:a16="http://schemas.microsoft.com/office/drawing/2014/main" id="{8B683ADE-0CDD-407B-EA13-1AE54854FC25}"/>
              </a:ext>
            </a:extLst>
          </p:cNvPr>
          <p:cNvSpPr/>
          <p:nvPr/>
        </p:nvSpPr>
        <p:spPr>
          <a:xfrm>
            <a:off x="340244" y="1799924"/>
            <a:ext cx="4713836" cy="38501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正方形/長方形 41">
            <a:extLst>
              <a:ext uri="{FF2B5EF4-FFF2-40B4-BE49-F238E27FC236}">
                <a16:creationId xmlns:a16="http://schemas.microsoft.com/office/drawing/2014/main" id="{F6A46E63-AA7E-07C6-1223-A3AED01B7F16}"/>
              </a:ext>
            </a:extLst>
          </p:cNvPr>
          <p:cNvSpPr/>
          <p:nvPr/>
        </p:nvSpPr>
        <p:spPr>
          <a:xfrm>
            <a:off x="6560758" y="1799923"/>
            <a:ext cx="5061266" cy="3850107"/>
          </a:xfrm>
          <a:prstGeom prst="rect">
            <a:avLst/>
          </a:prstGeom>
          <a:no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07AA6771-B868-B839-C928-00DC08837849}"/>
              </a:ext>
            </a:extLst>
          </p:cNvPr>
          <p:cNvSpPr txBox="1"/>
          <p:nvPr/>
        </p:nvSpPr>
        <p:spPr>
          <a:xfrm>
            <a:off x="243899" y="5871861"/>
            <a:ext cx="11686717" cy="307777"/>
          </a:xfrm>
          <a:prstGeom prst="rect">
            <a:avLst/>
          </a:prstGeom>
          <a:solidFill>
            <a:schemeClr val="bg1"/>
          </a:solidFill>
        </p:spPr>
        <p:txBody>
          <a:bodyPr wrap="square">
            <a:spAutoFit/>
          </a:bodyPr>
          <a:lstStyle/>
          <a:p>
            <a:pPr>
              <a:buNone/>
            </a:pPr>
            <a:r>
              <a:rPr lang="ja-JP" altLang="en-US" sz="1400" b="1" dirty="0"/>
              <a:t>参照資料：</a:t>
            </a:r>
            <a:r>
              <a:rPr lang="en-US" altLang="ja-JP" sz="1400" dirty="0"/>
              <a:t>P3</a:t>
            </a:r>
            <a:r>
              <a:rPr lang="ja-JP" altLang="en-US" sz="1400" dirty="0"/>
              <a:t>の参照資料同様</a:t>
            </a:r>
            <a:endParaRPr lang="en-US" altLang="ja-JP" sz="1400" dirty="0"/>
          </a:p>
        </p:txBody>
      </p:sp>
    </p:spTree>
    <p:extLst>
      <p:ext uri="{BB962C8B-B14F-4D97-AF65-F5344CB8AC3E}">
        <p14:creationId xmlns:p14="http://schemas.microsoft.com/office/powerpoint/2010/main" val="97314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38C45-84DD-E7A5-D7B2-85B29301A179}"/>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F0816BC-CB93-A4E3-EAA6-2D073E54DF1C}"/>
              </a:ext>
            </a:extLst>
          </p:cNvPr>
          <p:cNvSpPr>
            <a:spLocks noGrp="1"/>
          </p:cNvSpPr>
          <p:nvPr>
            <p:ph type="body" sz="quarter" idx="16"/>
          </p:nvPr>
        </p:nvSpPr>
        <p:spPr/>
        <p:txBody>
          <a:bodyPr/>
          <a:lstStyle/>
          <a:p>
            <a:r>
              <a:rPr kumimoji="1" lang="ja-JP" altLang="en-US" dirty="0"/>
              <a:t>中電</a:t>
            </a:r>
            <a:r>
              <a:rPr lang="ja-JP" altLang="en-US" dirty="0"/>
              <a:t>案件</a:t>
            </a:r>
            <a:r>
              <a:rPr kumimoji="1" lang="ja-JP" altLang="en-US" dirty="0"/>
              <a:t>へのアドバイス</a:t>
            </a:r>
            <a:endParaRPr kumimoji="1" lang="en-US" altLang="ja-JP" dirty="0"/>
          </a:p>
        </p:txBody>
      </p:sp>
      <p:sp>
        <p:nvSpPr>
          <p:cNvPr id="5" name="テキスト ボックス 4">
            <a:extLst>
              <a:ext uri="{FF2B5EF4-FFF2-40B4-BE49-F238E27FC236}">
                <a16:creationId xmlns:a16="http://schemas.microsoft.com/office/drawing/2014/main" id="{2F91BB0B-6DDD-EA16-AA41-11D8A3EC63DE}"/>
              </a:ext>
            </a:extLst>
          </p:cNvPr>
          <p:cNvSpPr txBox="1"/>
          <p:nvPr/>
        </p:nvSpPr>
        <p:spPr>
          <a:xfrm>
            <a:off x="398025" y="5292724"/>
            <a:ext cx="11793975" cy="1169551"/>
          </a:xfrm>
          <a:prstGeom prst="rect">
            <a:avLst/>
          </a:prstGeom>
          <a:noFill/>
        </p:spPr>
        <p:txBody>
          <a:bodyPr wrap="square">
            <a:spAutoFit/>
          </a:bodyPr>
          <a:lstStyle/>
          <a:p>
            <a:pPr marL="285750" indent="-285750">
              <a:buFont typeface="Wingdings" panose="05000000000000000000" pitchFamily="2" charset="2"/>
              <a:buChar char="n"/>
            </a:pPr>
            <a:r>
              <a:rPr lang="en-US" altLang="ja-JP" sz="1400" dirty="0">
                <a:latin typeface="+mn-ea"/>
              </a:rPr>
              <a:t>Windows AD</a:t>
            </a:r>
            <a:r>
              <a:rPr lang="ja-JP" altLang="en-US" sz="1400" dirty="0">
                <a:latin typeface="+mn-ea"/>
              </a:rPr>
              <a:t>認証は発電所やローカルネットワーク内の内部環境において現在でも高い信頼性と運用実績を持つ認証方式です。</a:t>
            </a:r>
            <a:endParaRPr lang="en-US" altLang="ja-JP" sz="1400" dirty="0">
              <a:latin typeface="+mn-ea"/>
            </a:endParaRPr>
          </a:p>
          <a:p>
            <a:pPr marL="285750" indent="-285750">
              <a:buFont typeface="Wingdings" panose="05000000000000000000" pitchFamily="2" charset="2"/>
              <a:buChar char="n"/>
            </a:pPr>
            <a:r>
              <a:rPr lang="en-US" altLang="ja-JP" sz="1400" dirty="0">
                <a:latin typeface="+mn-ea"/>
              </a:rPr>
              <a:t>OIDC</a:t>
            </a:r>
            <a:r>
              <a:rPr lang="ja-JP" altLang="en-US" sz="1400" dirty="0">
                <a:latin typeface="+mn-ea"/>
              </a:rPr>
              <a:t>認証は、クラウド環境、複数拠点、</a:t>
            </a:r>
            <a:r>
              <a:rPr lang="en-US" altLang="ja-JP" sz="1400" dirty="0">
                <a:latin typeface="+mn-ea"/>
              </a:rPr>
              <a:t>DMZ</a:t>
            </a:r>
            <a:r>
              <a:rPr lang="ja-JP" altLang="en-US" sz="1400" dirty="0">
                <a:latin typeface="+mn-ea"/>
              </a:rPr>
              <a:t>経由アクセス、企業統合</a:t>
            </a:r>
            <a:r>
              <a:rPr lang="en-US" altLang="ja-JP" sz="1400" dirty="0">
                <a:latin typeface="+mn-ea"/>
              </a:rPr>
              <a:t>ID</a:t>
            </a:r>
            <a:r>
              <a:rPr lang="ja-JP" altLang="en-US" sz="1400" dirty="0">
                <a:latin typeface="+mn-ea"/>
              </a:rPr>
              <a:t>管理に適した最新の認証方式です。</a:t>
            </a:r>
            <a:endParaRPr lang="en-US" altLang="ja-JP" sz="1400" dirty="0">
              <a:latin typeface="+mn-ea"/>
            </a:endParaRPr>
          </a:p>
          <a:p>
            <a:pPr marL="285750" indent="-285750">
              <a:buFont typeface="Wingdings" panose="05000000000000000000" pitchFamily="2" charset="2"/>
              <a:buChar char="n"/>
            </a:pPr>
            <a:r>
              <a:rPr lang="ja-JP" altLang="en-US" sz="1400" dirty="0">
                <a:latin typeface="+mn-ea"/>
              </a:rPr>
              <a:t>本システムでは、</a:t>
            </a:r>
            <a:r>
              <a:rPr lang="en-US" altLang="ja-JP" sz="1400" dirty="0">
                <a:latin typeface="+mn-ea"/>
              </a:rPr>
              <a:t>OT</a:t>
            </a:r>
            <a:r>
              <a:rPr lang="ja-JP" altLang="en-US" sz="1400" dirty="0">
                <a:latin typeface="+mn-ea"/>
              </a:rPr>
              <a:t>領域（発電所・拠点内）では</a:t>
            </a:r>
            <a:r>
              <a:rPr lang="en-US" altLang="ja-JP" sz="1400" dirty="0">
                <a:latin typeface="+mn-ea"/>
              </a:rPr>
              <a:t>Windows AD</a:t>
            </a:r>
            <a:r>
              <a:rPr lang="ja-JP" altLang="en-US" sz="1400" dirty="0">
                <a:latin typeface="+mn-ea"/>
              </a:rPr>
              <a:t>認証を継続利用し、</a:t>
            </a:r>
            <a:r>
              <a:rPr lang="en-US" altLang="ja-JP" sz="1400" dirty="0">
                <a:latin typeface="+mn-ea"/>
              </a:rPr>
              <a:t>IT</a:t>
            </a:r>
            <a:r>
              <a:rPr lang="ja-JP" altLang="en-US" sz="1400" dirty="0">
                <a:latin typeface="+mn-ea"/>
              </a:rPr>
              <a:t>領域（本社クラウド、</a:t>
            </a:r>
            <a:r>
              <a:rPr lang="en-US" altLang="ja-JP" sz="1400" dirty="0">
                <a:latin typeface="+mn-ea"/>
              </a:rPr>
              <a:t>PI Vision</a:t>
            </a:r>
            <a:r>
              <a:rPr lang="ja-JP" altLang="en-US" sz="1400" dirty="0">
                <a:latin typeface="+mn-ea"/>
              </a:rPr>
              <a:t>、</a:t>
            </a:r>
            <a:r>
              <a:rPr lang="en-US" altLang="ja-JP" sz="1400" dirty="0">
                <a:latin typeface="+mn-ea"/>
              </a:rPr>
              <a:t>Web/API</a:t>
            </a:r>
            <a:r>
              <a:rPr lang="ja-JP" altLang="en-US" sz="1400" dirty="0">
                <a:latin typeface="+mn-ea"/>
              </a:rPr>
              <a:t>アクセス）では</a:t>
            </a:r>
            <a:r>
              <a:rPr lang="en-US" altLang="ja-JP" sz="1400" dirty="0">
                <a:latin typeface="+mn-ea"/>
              </a:rPr>
              <a:t>Microsoft Entra ID</a:t>
            </a:r>
            <a:r>
              <a:rPr lang="ja-JP" altLang="en-US" sz="1400" dirty="0">
                <a:latin typeface="+mn-ea"/>
              </a:rPr>
              <a:t>を利用した</a:t>
            </a:r>
            <a:r>
              <a:rPr lang="en-US" altLang="ja-JP" sz="1400" dirty="0">
                <a:latin typeface="+mn-ea"/>
              </a:rPr>
              <a:t>OIDC</a:t>
            </a:r>
            <a:r>
              <a:rPr lang="ja-JP" altLang="en-US" sz="1400" dirty="0">
                <a:latin typeface="+mn-ea"/>
              </a:rPr>
              <a:t>認証を採用するハイブリッド認証構成が、既存投資を活用しながら将来拡張性とセキュリティを両立できる方式と推奨。</a:t>
            </a:r>
          </a:p>
        </p:txBody>
      </p:sp>
      <p:graphicFrame>
        <p:nvGraphicFramePr>
          <p:cNvPr id="4" name="表 3">
            <a:extLst>
              <a:ext uri="{FF2B5EF4-FFF2-40B4-BE49-F238E27FC236}">
                <a16:creationId xmlns:a16="http://schemas.microsoft.com/office/drawing/2014/main" id="{EC6AE019-FDE6-4212-1A75-98095BBD99A8}"/>
              </a:ext>
            </a:extLst>
          </p:cNvPr>
          <p:cNvGraphicFramePr>
            <a:graphicFrameLocks noGrp="1"/>
          </p:cNvGraphicFramePr>
          <p:nvPr>
            <p:extLst>
              <p:ext uri="{D42A27DB-BD31-4B8C-83A1-F6EECF244321}">
                <p14:modId xmlns:p14="http://schemas.microsoft.com/office/powerpoint/2010/main" val="1750346056"/>
              </p:ext>
            </p:extLst>
          </p:nvPr>
        </p:nvGraphicFramePr>
        <p:xfrm>
          <a:off x="398025" y="769870"/>
          <a:ext cx="11046900" cy="4432014"/>
        </p:xfrm>
        <a:graphic>
          <a:graphicData uri="http://schemas.openxmlformats.org/drawingml/2006/table">
            <a:tbl>
              <a:tblPr/>
              <a:tblGrid>
                <a:gridCol w="3682300">
                  <a:extLst>
                    <a:ext uri="{9D8B030D-6E8A-4147-A177-3AD203B41FA5}">
                      <a16:colId xmlns:a16="http://schemas.microsoft.com/office/drawing/2014/main" val="3639277218"/>
                    </a:ext>
                  </a:extLst>
                </a:gridCol>
                <a:gridCol w="3682300">
                  <a:extLst>
                    <a:ext uri="{9D8B030D-6E8A-4147-A177-3AD203B41FA5}">
                      <a16:colId xmlns:a16="http://schemas.microsoft.com/office/drawing/2014/main" val="2411786248"/>
                    </a:ext>
                  </a:extLst>
                </a:gridCol>
                <a:gridCol w="3682300">
                  <a:extLst>
                    <a:ext uri="{9D8B030D-6E8A-4147-A177-3AD203B41FA5}">
                      <a16:colId xmlns:a16="http://schemas.microsoft.com/office/drawing/2014/main" val="1737218758"/>
                    </a:ext>
                  </a:extLst>
                </a:gridCol>
              </a:tblGrid>
              <a:tr h="356286">
                <a:tc>
                  <a:txBody>
                    <a:bodyPr/>
                    <a:lstStyle/>
                    <a:p>
                      <a:pPr algn="ctr">
                        <a:buNone/>
                      </a:pPr>
                      <a:r>
                        <a:rPr lang="ja-JP" altLang="en-US" sz="1400" b="1">
                          <a:latin typeface="+mn-ea"/>
                          <a:ea typeface="+mn-ea"/>
                        </a:rPr>
                        <a:t>エリア</a:t>
                      </a:r>
                      <a:endParaRPr lang="ja-JP" sz="1400" b="1" dirty="0">
                        <a:latin typeface="+mn-ea"/>
                        <a:ea typeface="+mn-ea"/>
                      </a:endParaRP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E95D9"/>
                    </a:solidFill>
                  </a:tcPr>
                </a:tc>
                <a:tc>
                  <a:txBody>
                    <a:bodyPr/>
                    <a:lstStyle/>
                    <a:p>
                      <a:pPr algn="ctr">
                        <a:buNone/>
                      </a:pPr>
                      <a:r>
                        <a:rPr lang="ja-JP" sz="1400" b="1" dirty="0">
                          <a:latin typeface="+mn-ea"/>
                          <a:ea typeface="+mn-ea"/>
                        </a:rPr>
                        <a:t>推奨認証方式</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E95D9"/>
                    </a:solidFill>
                  </a:tcPr>
                </a:tc>
                <a:tc>
                  <a:txBody>
                    <a:bodyPr/>
                    <a:lstStyle/>
                    <a:p>
                      <a:pPr algn="ctr">
                        <a:buNone/>
                      </a:pPr>
                      <a:r>
                        <a:rPr lang="ja-JP" sz="1400" b="1" dirty="0">
                          <a:latin typeface="+mn-ea"/>
                          <a:ea typeface="+mn-ea"/>
                        </a:rPr>
                        <a:t>理由</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4E95D9"/>
                    </a:solidFill>
                  </a:tcPr>
                </a:tc>
                <a:extLst>
                  <a:ext uri="{0D108BD9-81ED-4DB2-BD59-A6C34878D82A}">
                    <a16:rowId xmlns:a16="http://schemas.microsoft.com/office/drawing/2014/main" val="1632320089"/>
                  </a:ext>
                </a:extLst>
              </a:tr>
              <a:tr h="556256">
                <a:tc>
                  <a:txBody>
                    <a:bodyPr/>
                    <a:lstStyle/>
                    <a:p>
                      <a:pPr>
                        <a:buNone/>
                      </a:pPr>
                      <a:r>
                        <a:rPr lang="ja-JP" sz="1400" dirty="0">
                          <a:latin typeface="+mn-ea"/>
                          <a:ea typeface="+mn-ea"/>
                        </a:rPr>
                        <a:t>発電所内</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400" dirty="0">
                          <a:latin typeface="+mn-ea"/>
                          <a:ea typeface="+mn-ea"/>
                        </a:rPr>
                        <a:t>Windows AD認証</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400">
                          <a:latin typeface="+mn-ea"/>
                          <a:ea typeface="+mn-ea"/>
                        </a:rPr>
                        <a:t>閉域OT環境であり、既存Windows環境との親和性が高く、安定した運用が可能</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4262488"/>
                  </a:ext>
                </a:extLst>
              </a:tr>
              <a:tr h="556256">
                <a:tc>
                  <a:txBody>
                    <a:bodyPr/>
                    <a:lstStyle/>
                    <a:p>
                      <a:pPr>
                        <a:buNone/>
                      </a:pPr>
                      <a:r>
                        <a:rPr lang="ja-JP" sz="1400" dirty="0">
                          <a:latin typeface="+mn-ea"/>
                          <a:ea typeface="+mn-ea"/>
                        </a:rPr>
                        <a:t>子局内PI Server</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400" dirty="0">
                          <a:latin typeface="+mn-ea"/>
                          <a:ea typeface="+mn-ea"/>
                        </a:rPr>
                        <a:t>Windows AD認証</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400" dirty="0">
                          <a:latin typeface="+mn-ea"/>
                          <a:ea typeface="+mn-ea"/>
                        </a:rPr>
                        <a:t>同一Windows Domain内での利用であれば、Kerberos認証が最もシンプル</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21131794"/>
                  </a:ext>
                </a:extLst>
              </a:tr>
              <a:tr h="556256">
                <a:tc>
                  <a:txBody>
                    <a:bodyPr/>
                    <a:lstStyle/>
                    <a:p>
                      <a:pPr>
                        <a:buNone/>
                      </a:pPr>
                      <a:r>
                        <a:rPr lang="ja-JP" sz="1400" dirty="0">
                          <a:latin typeface="+mn-ea"/>
                          <a:ea typeface="+mn-ea"/>
                        </a:rPr>
                        <a:t>子局内EDS</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400" dirty="0">
                          <a:latin typeface="+mn-ea"/>
                          <a:ea typeface="+mn-ea"/>
                        </a:rPr>
                        <a:t>Windows AD認証</a:t>
                      </a:r>
                      <a:r>
                        <a:rPr lang="ja-JP" altLang="ja-JP" sz="1400" dirty="0">
                          <a:latin typeface="+mn-ea"/>
                          <a:ea typeface="+mn-ea"/>
                        </a:rPr>
                        <a:t>/ Service Account</a:t>
                      </a:r>
                      <a:endParaRPr lang="ja-JP" sz="1400" dirty="0">
                        <a:latin typeface="+mn-ea"/>
                        <a:ea typeface="+mn-ea"/>
                      </a:endParaRP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400" dirty="0">
                          <a:latin typeface="+mn-ea"/>
                          <a:ea typeface="+mn-ea"/>
                        </a:rPr>
                        <a:t>EDS</a:t>
                      </a:r>
                      <a:r>
                        <a:rPr lang="ja-JP" altLang="en-US" sz="1400" dirty="0">
                          <a:latin typeface="+mn-ea"/>
                          <a:ea typeface="+mn-ea"/>
                        </a:rPr>
                        <a:t>は</a:t>
                      </a:r>
                      <a:r>
                        <a:rPr lang="en-US" altLang="ja-JP" sz="1400" dirty="0">
                          <a:latin typeface="+mn-ea"/>
                          <a:ea typeface="+mn-ea"/>
                        </a:rPr>
                        <a:t>OS</a:t>
                      </a:r>
                      <a:r>
                        <a:rPr lang="ja-JP" altLang="en-US" sz="1400" dirty="0">
                          <a:latin typeface="+mn-ea"/>
                          <a:ea typeface="+mn-ea"/>
                        </a:rPr>
                        <a:t>アカウント認証に依存するだけで</a:t>
                      </a:r>
                      <a:r>
                        <a:rPr lang="en-US" altLang="ja-JP" sz="1400" dirty="0">
                          <a:latin typeface="+mn-ea"/>
                          <a:ea typeface="+mn-ea"/>
                        </a:rPr>
                        <a:t>PI Server</a:t>
                      </a:r>
                      <a:r>
                        <a:rPr lang="ja-JP" altLang="en-US" sz="1400" dirty="0">
                          <a:latin typeface="+mn-ea"/>
                          <a:ea typeface="+mn-ea"/>
                        </a:rPr>
                        <a:t>の</a:t>
                      </a:r>
                      <a:r>
                        <a:rPr lang="en-US" altLang="ja-JP" sz="1400" dirty="0">
                          <a:latin typeface="+mn-ea"/>
                          <a:ea typeface="+mn-ea"/>
                        </a:rPr>
                        <a:t>AD/OIDC</a:t>
                      </a:r>
                      <a:r>
                        <a:rPr lang="ja-JP" altLang="en-US" sz="1400" dirty="0">
                          <a:latin typeface="+mn-ea"/>
                          <a:ea typeface="+mn-ea"/>
                        </a:rPr>
                        <a:t>認証系に関係ない</a:t>
                      </a:r>
                      <a:endParaRPr lang="ja-JP" sz="1400" dirty="0">
                        <a:latin typeface="+mn-ea"/>
                        <a:ea typeface="+mn-ea"/>
                      </a:endParaRP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31444248"/>
                  </a:ext>
                </a:extLst>
              </a:tr>
              <a:tr h="556256">
                <a:tc>
                  <a:txBody>
                    <a:bodyPr/>
                    <a:lstStyle/>
                    <a:p>
                      <a:pPr>
                        <a:buNone/>
                      </a:pPr>
                      <a:r>
                        <a:rPr lang="ja-JP" sz="1400" dirty="0">
                          <a:latin typeface="+mn-ea"/>
                          <a:ea typeface="+mn-ea"/>
                        </a:rPr>
                        <a:t>子局</a:t>
                      </a:r>
                      <a:r>
                        <a:rPr lang="ja-JP" altLang="en-US" sz="1400" dirty="0">
                          <a:latin typeface="+mn-ea"/>
                          <a:ea typeface="+mn-ea"/>
                        </a:rPr>
                        <a:t>→</a:t>
                      </a:r>
                      <a:r>
                        <a:rPr lang="ja-JP" sz="1400" dirty="0">
                          <a:latin typeface="+mn-ea"/>
                          <a:ea typeface="+mn-ea"/>
                        </a:rPr>
                        <a:t>発電所間通信</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400" dirty="0">
                          <a:latin typeface="+mn-ea"/>
                          <a:ea typeface="+mn-ea"/>
                        </a:rPr>
                        <a:t>Windows AD / Service Account</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400" dirty="0">
                          <a:latin typeface="+mn-ea"/>
                          <a:ea typeface="+mn-ea"/>
                        </a:rPr>
                        <a:t>システム間通信はユーザー認証とは分離し、サービスアカウント管理が適切</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86953829"/>
                  </a:ext>
                </a:extLst>
              </a:tr>
              <a:tr h="389236">
                <a:tc>
                  <a:txBody>
                    <a:bodyPr/>
                    <a:lstStyle/>
                    <a:p>
                      <a:pPr>
                        <a:buNone/>
                      </a:pPr>
                      <a:r>
                        <a:rPr lang="ja-JP" sz="1400" dirty="0">
                          <a:latin typeface="+mn-ea"/>
                          <a:ea typeface="+mn-ea"/>
                        </a:rPr>
                        <a:t>本社Azure環境のPI Server</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400" dirty="0">
                          <a:latin typeface="+mn-ea"/>
                          <a:ea typeface="+mn-ea"/>
                        </a:rPr>
                        <a:t>OIDC認証（Microsoft Entra ID）</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altLang="en-US" sz="1400" dirty="0">
                          <a:latin typeface="+mn-ea"/>
                          <a:ea typeface="+mn-ea"/>
                        </a:rPr>
                        <a:t>クラウドを利用する</a:t>
                      </a:r>
                      <a:r>
                        <a:rPr lang="ja-JP" sz="1400" dirty="0">
                          <a:latin typeface="+mn-ea"/>
                          <a:ea typeface="+mn-ea"/>
                        </a:rPr>
                        <a:t>環境、企業統合ID管理、SSOに適している</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62772959"/>
                  </a:ext>
                </a:extLst>
              </a:tr>
              <a:tr h="389236">
                <a:tc>
                  <a:txBody>
                    <a:bodyPr/>
                    <a:lstStyle/>
                    <a:p>
                      <a:pPr>
                        <a:buNone/>
                      </a:pPr>
                      <a:r>
                        <a:rPr lang="ja-JP" sz="1400" dirty="0">
                          <a:latin typeface="+mn-ea"/>
                          <a:ea typeface="+mn-ea"/>
                        </a:rPr>
                        <a:t>PI Visionアクセス</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400" dirty="0">
                          <a:latin typeface="+mn-ea"/>
                          <a:ea typeface="+mn-ea"/>
                        </a:rPr>
                        <a:t>OIDC認証（Microsoft Entra ID）</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altLang="en-US" sz="1400" dirty="0">
                          <a:latin typeface="+mn-ea"/>
                          <a:ea typeface="+mn-ea"/>
                        </a:rPr>
                        <a:t>ブラウザ</a:t>
                      </a:r>
                      <a:r>
                        <a:rPr lang="ja-JP" sz="1400" dirty="0">
                          <a:latin typeface="+mn-ea"/>
                          <a:ea typeface="+mn-ea"/>
                        </a:rPr>
                        <a:t>ベースアクセス、MFA、</a:t>
                      </a:r>
                      <a:r>
                        <a:rPr lang="ja-JP" altLang="en-US" sz="1400" dirty="0">
                          <a:latin typeface="+mn-ea"/>
                          <a:ea typeface="+mn-ea"/>
                        </a:rPr>
                        <a:t>条件付きのアクセス</a:t>
                      </a:r>
                      <a:r>
                        <a:rPr lang="ja-JP" sz="1400" dirty="0">
                          <a:latin typeface="+mn-ea"/>
                          <a:ea typeface="+mn-ea"/>
                        </a:rPr>
                        <a:t>を利用可能</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85907363"/>
                  </a:ext>
                </a:extLst>
              </a:tr>
              <a:tr h="375457">
                <a:tc>
                  <a:txBody>
                    <a:bodyPr/>
                    <a:lstStyle/>
                    <a:p>
                      <a:pPr>
                        <a:buNone/>
                      </a:pPr>
                      <a:r>
                        <a:rPr lang="ja-JP" sz="1400" dirty="0">
                          <a:latin typeface="+mn-ea"/>
                          <a:ea typeface="+mn-ea"/>
                        </a:rPr>
                        <a:t>DMZ経由のアクセス（将来構成）</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400" dirty="0">
                          <a:latin typeface="+mn-ea"/>
                          <a:ea typeface="+mn-ea"/>
                        </a:rPr>
                        <a:t>OIDC認証</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400" dirty="0">
                          <a:latin typeface="+mn-ea"/>
                          <a:ea typeface="+mn-ea"/>
                        </a:rPr>
                        <a:t>Windows Domainを構築せず、安全なID連携が可能</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19381139"/>
                  </a:ext>
                </a:extLst>
              </a:tr>
              <a:tr h="389236">
                <a:tc>
                  <a:txBody>
                    <a:bodyPr/>
                    <a:lstStyle/>
                    <a:p>
                      <a:pPr>
                        <a:buNone/>
                      </a:pPr>
                      <a:r>
                        <a:rPr lang="ja-JP" sz="1400" dirty="0">
                          <a:latin typeface="+mn-ea"/>
                          <a:ea typeface="+mn-ea"/>
                        </a:rPr>
                        <a:t>拠点間・組織間アクセス</a:t>
                      </a:r>
                      <a:r>
                        <a:rPr lang="ja-JP" altLang="ja-JP" sz="1400" dirty="0">
                          <a:latin typeface="+mn-ea"/>
                          <a:ea typeface="+mn-ea"/>
                        </a:rPr>
                        <a:t>（将来構成）</a:t>
                      </a:r>
                      <a:endParaRPr lang="ja-JP" sz="1400" dirty="0">
                        <a:latin typeface="+mn-ea"/>
                        <a:ea typeface="+mn-ea"/>
                      </a:endParaRP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400" dirty="0">
                          <a:latin typeface="+mn-ea"/>
                          <a:ea typeface="+mn-ea"/>
                        </a:rPr>
                        <a:t>OIDC認証</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buNone/>
                      </a:pPr>
                      <a:r>
                        <a:rPr lang="ja-JP" sz="1400" dirty="0">
                          <a:latin typeface="+mn-ea"/>
                          <a:ea typeface="+mn-ea"/>
                        </a:rPr>
                        <a:t>Federationによる柔軟なID連携が可能</a:t>
                      </a:r>
                    </a:p>
                  </a:txBody>
                  <a:tcPr marL="60435" marR="60435" marT="30218" marB="3021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34388428"/>
                  </a:ext>
                </a:extLst>
              </a:tr>
            </a:tbl>
          </a:graphicData>
        </a:graphic>
      </p:graphicFrame>
      <p:sp>
        <p:nvSpPr>
          <p:cNvPr id="3" name="テキスト ボックス 2">
            <a:extLst>
              <a:ext uri="{FF2B5EF4-FFF2-40B4-BE49-F238E27FC236}">
                <a16:creationId xmlns:a16="http://schemas.microsoft.com/office/drawing/2014/main" id="{73DD281C-9810-FC68-7AC1-ADAA57E01BCE}"/>
              </a:ext>
            </a:extLst>
          </p:cNvPr>
          <p:cNvSpPr txBox="1"/>
          <p:nvPr/>
        </p:nvSpPr>
        <p:spPr>
          <a:xfrm>
            <a:off x="398025" y="6408851"/>
            <a:ext cx="11686717" cy="307777"/>
          </a:xfrm>
          <a:prstGeom prst="rect">
            <a:avLst/>
          </a:prstGeom>
          <a:solidFill>
            <a:schemeClr val="bg1"/>
          </a:solidFill>
        </p:spPr>
        <p:txBody>
          <a:bodyPr wrap="square">
            <a:spAutoFit/>
          </a:bodyPr>
          <a:lstStyle/>
          <a:p>
            <a:pPr>
              <a:buNone/>
            </a:pPr>
            <a:r>
              <a:rPr lang="ja-JP" altLang="en-US" sz="1400" b="1" dirty="0"/>
              <a:t>本ページ：個人的な推奨</a:t>
            </a:r>
            <a:endParaRPr lang="en-US" altLang="ja-JP" sz="1400" dirty="0"/>
          </a:p>
        </p:txBody>
      </p:sp>
    </p:spTree>
    <p:extLst>
      <p:ext uri="{BB962C8B-B14F-4D97-AF65-F5344CB8AC3E}">
        <p14:creationId xmlns:p14="http://schemas.microsoft.com/office/powerpoint/2010/main" val="94805400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1214</Words>
  <Application>Microsoft Office PowerPoint</Application>
  <PresentationFormat>ワイド画面</PresentationFormat>
  <Paragraphs>197</Paragraphs>
  <Slides>5</Slides>
  <Notes>2</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5</vt:i4>
      </vt:variant>
    </vt:vector>
  </HeadingPairs>
  <TitlesOfParts>
    <vt:vector size="13" baseType="lpstr">
      <vt:lpstr>Microsoft YaHei</vt:lpstr>
      <vt:lpstr>Yu Gothic</vt:lpstr>
      <vt:lpstr>Yu Gothic</vt:lpstr>
      <vt:lpstr>游ゴシック Light</vt:lpstr>
      <vt:lpstr>Yu Gothic Medium</vt:lpstr>
      <vt:lpstr>Arial</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龍　海波</dc:creator>
  <cp:lastModifiedBy>龍　海波</cp:lastModifiedBy>
  <cp:revision>333</cp:revision>
  <dcterms:created xsi:type="dcterms:W3CDTF">2026-06-01T06:40:59Z</dcterms:created>
  <dcterms:modified xsi:type="dcterms:W3CDTF">2026-07-15T04:18:30Z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abb27ca-7868-470c-8d5b-74df37759162_Enabled">
    <vt:lpwstr>true</vt:lpwstr>
  </property>
  <property fmtid="{D5CDD505-2E9C-101B-9397-08002B2CF9AE}" pid="3" name="MSIP_Label_babb27ca-7868-470c-8d5b-74df37759162_SetDate">
    <vt:lpwstr>2026-07-13T07:05:22Z</vt:lpwstr>
  </property>
  <property fmtid="{D5CDD505-2E9C-101B-9397-08002B2CF9AE}" pid="4" name="MSIP_Label_babb27ca-7868-470c-8d5b-74df37759162_Method">
    <vt:lpwstr>Privileged</vt:lpwstr>
  </property>
  <property fmtid="{D5CDD505-2E9C-101B-9397-08002B2CF9AE}" pid="5" name="MSIP_Label_babb27ca-7868-470c-8d5b-74df37759162_Name">
    <vt:lpwstr>babb27ca-7868-470c-8d5b-74df37759162</vt:lpwstr>
  </property>
  <property fmtid="{D5CDD505-2E9C-101B-9397-08002B2CF9AE}" pid="6" name="MSIP_Label_babb27ca-7868-470c-8d5b-74df37759162_SiteId">
    <vt:lpwstr>bdda4ca5-4ffd-4f47-9e0d-ce56ad194b37</vt:lpwstr>
  </property>
  <property fmtid="{D5CDD505-2E9C-101B-9397-08002B2CF9AE}" pid="7" name="MSIP_Label_babb27ca-7868-470c-8d5b-74df37759162_ActionId">
    <vt:lpwstr>d59069e3-0a92-49ce-90b6-00d833840c38</vt:lpwstr>
  </property>
  <property fmtid="{D5CDD505-2E9C-101B-9397-08002B2CF9AE}" pid="8" name="MSIP_Label_babb27ca-7868-470c-8d5b-74df37759162_ContentBits">
    <vt:lpwstr>0</vt:lpwstr>
  </property>
</Properties>
</file>